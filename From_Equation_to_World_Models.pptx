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follow one simple question from Isaac Newton all the way to the AI 'world models' being built in 2025 and 2026. Along the way we'll see that the mathematics hardly changes: vectors, tensors and calculus.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and take a few answers. Everyone can answer it roughly, and a child can catch a ball without knowing a single equation. Keep that child in mind; we will come back to them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 has lived in column 1 for over 300 years: find the law, then calculate. AI started in column 2: find patterns in data. The most exciting work today mixes the two, and world models aim for column 3, which is how a child catches the ball. This is the map for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Forget the hype. An AI model is a function with adjustable knobs, called theta. Large language models have hundreds of billions of knobs; the network in our first demo has about two thousand. Learning means turning those knobs.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noisy measurements of a ball's height. Fitting a curve through them is exactly what a neural network does, just with far more parameters and far more complicated curves. It is the same least-squares idea from a first statistics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improve, we go downhill on the error surface. Working out which way is downhill for billions of parameters is just the chain rule applied over and over, which is called backpropagation. We will use this same automatic differentiation in Demo 1 to take derivatives with respect to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weakness of pure machine learning. Outside the data it has seen, the network can do anything. Hold on to this; putting physics back into the model is how we will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Physicists already describe a system by its state vector: position and velocity. AI does the same for everything, even words and images. Once things are vectors, 'how similar are these two?' becomes a dot product, the same one you learned in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square grid. Middle: after multiplying by a matrix W and adding b, the grid is sheared and rotated, but the lines are still straight. Right: after the tanh nonlinearity, space is bent. A deep network is many of these bends stacked together. That's all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tensor is just an array with more indices. Mass is a scalar, velocity a vector, stress a matrix, a colour image a rank-3 tensor, and a batch of fluid simulations a rank-5 tensor. The world model in Demo 3 eats a 16 by 3 by 256 by 256 tensor.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einsum line computes the traction on a surface and the attention inside ChatGPT or Claude. This is why physicists feel at home in AI. Switch to notebook 1, Part 1: vectors, the grid warp, stress, inertia and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column 1 on our map: we know the law, and we crunch numbers. It's accurate and trustworthy, but slow. A single high-resolution weather or turbulence simulation can occupy a supercomputer for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put the law directly into the loss function. The network is punished both for missing the data and for breaking Newton's law. With only ten measurements from the first third of the motion, it predicts the entire oscillation. Then we flip it around: we don't know the friction, we make it a learnable parameter, and gradient descent finds it. Switch to notebook 1, Parts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PINN solves one problem. A neural operator learns the map from any starting condition to the answer. The Fourier Neural Operator does its learning in frequency space: FFT, multiply the low modes by a learned complex tensor, then transform back. It even works on a finer grid than it was trained on. Switch to notebook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3. A child has never solved a differential equation, yet predicts where the ball will land. Can we build a machine that learns an internal simulator of the world just by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V-JEPA 2 was pre-trained by Meta on over a million hours of internet video. The game: hide part of the video and predict the abstract representation of what is hidden, not the pixels. That makes it focus on objects and motion rather than on every leaf and shadow. Under the hood it is the same tensor algebra: patches become vectors, attention mixes them, and the predictor outputs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Developmental psychologists test babies by showing them impossible events; babies look longer when their expectations are broken. We do the same: the encoder sees the first eight frames, the predictor imagines the next eight, and we measure how wrong it was. Switch to notebook 3. If you recorded a video with the audience, run the last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a law written by hand and ended with a model that learns intuition from video. The vectors, tensors and calculus stayed the same all the 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open research problems, and very good ones for the students in this room. Each one is a potential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ball's path from the first slide, now drawn as a network. Thank the audience and point them to the notebooks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457200"/>
            <a:ext cx="4572000" cy="274320"/>
          </a:xfrm>
          <a:prstGeom prst="rect">
            <a:avLst/>
          </a:prstGeom>
          <a:noFill/>
          <a:ln/>
        </p:spPr>
        <p:txBody>
          <a:bodyPr wrap="square" lIns="0" tIns="0" rIns="0" bIns="0" rtlCol="0" anchor="ctr"/>
          <a:lstStyle/>
          <a:p>
            <a:pPr indent="0" marL="0">
              <a:buNone/>
            </a:pPr>
            <a:r>
              <a:rPr lang="en-US" sz="1200" b="1" spc="300" kern="0" dirty="0">
                <a:solidFill>
                  <a:srgbClr val="F5A524"/>
                </a:solidFill>
                <a:latin typeface="Calibri" pitchFamily="34" charset="0"/>
                <a:ea typeface="Calibri" pitchFamily="34" charset="-122"/>
                <a:cs typeface="Calibri" pitchFamily="34" charset="-120"/>
              </a:rPr>
              <a:t>SIET  ·  Guest lecture</a:t>
            </a:r>
            <a:endParaRPr lang="en-US" sz="1200" dirty="0"/>
          </a:p>
        </p:txBody>
      </p:sp>
      <p:sp>
        <p:nvSpPr>
          <p:cNvPr id="3" name="Text 1"/>
          <p:cNvSpPr txBox="1"/>
          <p:nvPr/>
        </p:nvSpPr>
        <p:spPr>
          <a:xfrm>
            <a:off x="457200" y="1188720"/>
            <a:ext cx="4572000" cy="1645920"/>
          </a:xfrm>
          <a:prstGeom prst="rect">
            <a:avLst/>
          </a:prstGeom>
          <a:noFill/>
          <a:ln/>
        </p:spPr>
        <p:txBody>
          <a:bodyPr wrap="square" lIns="0" tIns="0" rIns="0" bIns="0" rtlCol="0" anchor="t"/>
          <a:lstStyle/>
          <a:p>
            <a:pPr indent="0" marL="0">
              <a:buNone/>
            </a:pPr>
            <a:r>
              <a:rPr lang="en-US" sz="4000" b="1" dirty="0">
                <a:solidFill>
                  <a:srgbClr val="EAF0FA"/>
                </a:solidFill>
                <a:latin typeface="Cambria" pitchFamily="34" charset="0"/>
                <a:ea typeface="Cambria" pitchFamily="34" charset="-122"/>
                <a:cs typeface="Cambria" pitchFamily="34" charset="-120"/>
              </a:rPr>
              <a:t>From Equation to World Models</a:t>
            </a:r>
            <a:endParaRPr lang="en-US" sz="4000" dirty="0"/>
          </a:p>
        </p:txBody>
      </p:sp>
      <p:sp>
        <p:nvSpPr>
          <p:cNvPr id="4" name="Text 2"/>
          <p:cNvSpPr txBox="1"/>
          <p:nvPr/>
        </p:nvSpPr>
        <p:spPr>
          <a:xfrm>
            <a:off x="457200" y="2926080"/>
            <a:ext cx="4572000" cy="457200"/>
          </a:xfrm>
          <a:prstGeom prst="rect">
            <a:avLst/>
          </a:prstGeom>
          <a:noFill/>
          <a:ln/>
        </p:spPr>
        <p:txBody>
          <a:bodyPr wrap="square" lIns="0" tIns="0" rIns="0" bIns="0" rtlCol="0" anchor="t"/>
          <a:lstStyle/>
          <a:p>
            <a:pPr indent="0" marL="0">
              <a:buNone/>
            </a:pPr>
            <a:r>
              <a:rPr lang="en-US" sz="2000" dirty="0">
                <a:solidFill>
                  <a:srgbClr val="4FD1E8"/>
                </a:solidFill>
                <a:latin typeface="Calibri" pitchFamily="34" charset="0"/>
                <a:ea typeface="Calibri" pitchFamily="34" charset="-122"/>
                <a:cs typeface="Calibri" pitchFamily="34" charset="-120"/>
              </a:rPr>
              <a:t>AI and the Simulation of Physics</a:t>
            </a:r>
            <a:endParaRPr lang="en-US" sz="2000" dirty="0"/>
          </a:p>
        </p:txBody>
      </p:sp>
      <p:sp>
        <p:nvSpPr>
          <p:cNvPr id="5" name="Text 3"/>
          <p:cNvSpPr txBox="1"/>
          <p:nvPr/>
        </p:nvSpPr>
        <p:spPr>
          <a:xfrm>
            <a:off x="457200" y="4206240"/>
            <a:ext cx="4572000" cy="365760"/>
          </a:xfrm>
          <a:prstGeom prst="rect">
            <a:avLst/>
          </a:prstGeom>
          <a:noFill/>
          <a:ln/>
        </p:spPr>
        <p:txBody>
          <a:bodyPr wrap="square" lIns="0" tIns="0" rIns="0" bIns="0" rtlCol="0" anchor="t"/>
          <a:lstStyle/>
          <a:p>
            <a:pPr indent="0" marL="0">
              <a:buNone/>
            </a:pPr>
            <a:r>
              <a:rPr lang="en-US" sz="1400" dirty="0">
                <a:solidFill>
                  <a:srgbClr val="8A9BB8"/>
                </a:solidFill>
                <a:latin typeface="Calibri" pitchFamily="34" charset="0"/>
                <a:ea typeface="Calibri" pitchFamily="34" charset="-122"/>
                <a:cs typeface="Calibri" pitchFamily="34" charset="-120"/>
              </a:rPr>
              <a:t>Balaji Muthusubramanian</a:t>
            </a:r>
            <a:endParaRPr lang="en-US" sz="1400" dirty="0"/>
          </a:p>
        </p:txBody>
      </p:sp>
      <p:pic>
        <p:nvPicPr>
          <p:cNvPr id="6" name="Image 0" descr="assets/title_parabola.png">    </p:cNvPr>
          <p:cNvPicPr>
            <a:picLocks noChangeAspect="1"/>
          </p:cNvPicPr>
          <p:nvPr/>
        </p:nvPicPr>
        <p:blipFill>
          <a:blip r:embed="rId1"/>
          <a:stretch>
            <a:fillRect/>
          </a:stretch>
        </p:blipFill>
        <p:spPr>
          <a:xfrm>
            <a:off x="4937760" y="1371600"/>
            <a:ext cx="3931920" cy="21176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LET'S START WITH A QUESTION</a:t>
            </a:r>
            <a:endParaRPr lang="en-US" sz="1100" dirty="0"/>
          </a:p>
        </p:txBody>
      </p:sp>
      <p:sp>
        <p:nvSpPr>
          <p:cNvPr id="3" name="Text 1"/>
          <p:cNvSpPr txBox="1"/>
          <p:nvPr/>
        </p:nvSpPr>
        <p:spPr>
          <a:xfrm>
            <a:off x="457200" y="822960"/>
            <a:ext cx="8229600" cy="822960"/>
          </a:xfrm>
          <a:prstGeom prst="rect">
            <a:avLst/>
          </a:prstGeom>
          <a:noFill/>
          <a:ln/>
        </p:spPr>
        <p:txBody>
          <a:bodyPr wrap="square" lIns="0" tIns="0" rIns="0" bIns="0" rtlCol="0" anchor="ctr"/>
          <a:lstStyle/>
          <a:p>
            <a:pPr indent="0" marL="0">
              <a:buNone/>
            </a:pPr>
            <a:r>
              <a:rPr lang="en-US" sz="4000" b="1" dirty="0">
                <a:solidFill>
                  <a:srgbClr val="EAF0FA"/>
                </a:solidFill>
                <a:latin typeface="Cambria" pitchFamily="34" charset="0"/>
                <a:ea typeface="Cambria" pitchFamily="34" charset="-122"/>
                <a:cs typeface="Cambria" pitchFamily="34" charset="-120"/>
              </a:rPr>
              <a:t>Where will this ball land?</a:t>
            </a:r>
            <a:endParaRPr lang="en-US" sz="4000" dirty="0"/>
          </a:p>
        </p:txBody>
      </p:sp>
      <p:pic>
        <p:nvPicPr>
          <p:cNvPr id="4" name="Image 0" descr="assets/throw_question.png">    </p:cNvPr>
          <p:cNvPicPr>
            <a:picLocks noChangeAspect="1"/>
          </p:cNvPicPr>
          <p:nvPr/>
        </p:nvPicPr>
        <p:blipFill>
          <a:blip r:embed="rId1"/>
          <a:stretch>
            <a:fillRect/>
          </a:stretch>
        </p:blipFill>
        <p:spPr>
          <a:xfrm>
            <a:off x="1554480" y="1783080"/>
            <a:ext cx="6035040" cy="33037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THE ROADMAP</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Three ways to answer it</a:t>
            </a:r>
            <a:endParaRPr lang="en-US" sz="3000" dirty="0"/>
          </a:p>
        </p:txBody>
      </p:sp>
      <p:sp>
        <p:nvSpPr>
          <p:cNvPr id="4" name="Shape 2"/>
          <p:cNvSpPr/>
          <p:nvPr/>
        </p:nvSpPr>
        <p:spPr>
          <a:xfrm>
            <a:off x="457200" y="1371600"/>
            <a:ext cx="2606040" cy="2651760"/>
          </a:xfrm>
          <a:prstGeom prst="roundRect">
            <a:avLst>
              <a:gd name="adj" fmla="val 2807"/>
            </a:avLst>
          </a:prstGeom>
          <a:solidFill>
            <a:srgbClr val="16223A"/>
          </a:solidFill>
          <a:ln w="12700">
            <a:solidFill>
              <a:srgbClr val="16223A"/>
            </a:solidFill>
            <a:prstDash val="solid"/>
          </a:ln>
        </p:spPr>
      </p:sp>
      <p:sp>
        <p:nvSpPr>
          <p:cNvPr id="5" name="Shape 3"/>
          <p:cNvSpPr/>
          <p:nvPr/>
        </p:nvSpPr>
        <p:spPr>
          <a:xfrm>
            <a:off x="685800" y="1600200"/>
            <a:ext cx="548640" cy="548640"/>
          </a:xfrm>
          <a:prstGeom prst="ellipse">
            <a:avLst/>
          </a:prstGeom>
          <a:solidFill>
            <a:srgbClr val="4FD1E8"/>
          </a:solidFill>
          <a:ln w="12700">
            <a:solidFill>
              <a:srgbClr val="4FD1E8"/>
            </a:solidFill>
            <a:prstDash val="solid"/>
          </a:ln>
        </p:spPr>
      </p:sp>
      <p:pic>
        <p:nvPicPr>
          <p:cNvPr id="6" name="Image 0" descr="preencoded.png">    </p:cNvPr>
          <p:cNvPicPr>
            <a:picLocks noChangeAspect="1"/>
          </p:cNvPicPr>
          <p:nvPr/>
        </p:nvPicPr>
        <p:blipFill>
          <a:blip r:embed="rId1"/>
          <a:stretch>
            <a:fillRect/>
          </a:stretch>
        </p:blipFill>
        <p:spPr>
          <a:xfrm>
            <a:off x="813816" y="1728216"/>
            <a:ext cx="292608" cy="292608"/>
          </a:xfrm>
          <a:prstGeom prst="rect">
            <a:avLst/>
          </a:prstGeom>
        </p:spPr>
      </p:pic>
      <p:sp>
        <p:nvSpPr>
          <p:cNvPr id="7" name="Text 4"/>
          <p:cNvSpPr txBox="1"/>
          <p:nvPr/>
        </p:nvSpPr>
        <p:spPr>
          <a:xfrm>
            <a:off x="685800" y="2331720"/>
            <a:ext cx="2148840" cy="365760"/>
          </a:xfrm>
          <a:prstGeom prst="rect">
            <a:avLst/>
          </a:prstGeom>
          <a:noFill/>
          <a:ln/>
        </p:spPr>
        <p:txBody>
          <a:bodyPr wrap="square" lIns="0" tIns="0" rIns="0" bIns="0" rtlCol="0" anchor="t"/>
          <a:lstStyle/>
          <a:p>
            <a:pPr indent="0" marL="0">
              <a:buNone/>
            </a:pPr>
            <a:r>
              <a:rPr lang="en-US" sz="1700" b="1" dirty="0">
                <a:solidFill>
                  <a:srgbClr val="EAF0FA"/>
                </a:solidFill>
                <a:latin typeface="Calibri" pitchFamily="34" charset="0"/>
                <a:ea typeface="Calibri" pitchFamily="34" charset="-122"/>
                <a:cs typeface="Calibri" pitchFamily="34" charset="-120"/>
              </a:rPr>
              <a:t>1 · Write the law</a:t>
            </a:r>
            <a:endParaRPr lang="en-US" sz="1700" dirty="0"/>
          </a:p>
        </p:txBody>
      </p:sp>
      <p:sp>
        <p:nvSpPr>
          <p:cNvPr id="8" name="Text 5"/>
          <p:cNvSpPr txBox="1"/>
          <p:nvPr/>
        </p:nvSpPr>
        <p:spPr>
          <a:xfrm>
            <a:off x="685800" y="2697480"/>
            <a:ext cx="214884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Newton, 1687</a:t>
            </a:r>
            <a:endParaRPr lang="en-US" sz="1200" dirty="0"/>
          </a:p>
        </p:txBody>
      </p:sp>
      <p:pic>
        <p:nvPicPr>
          <p:cNvPr id="9" name="Image 1" descr="assets/eq_newton.png">    </p:cNvPr>
          <p:cNvPicPr>
            <a:picLocks noChangeAspect="1"/>
          </p:cNvPicPr>
          <p:nvPr/>
        </p:nvPicPr>
        <p:blipFill>
          <a:blip r:embed="rId2"/>
          <a:stretch>
            <a:fillRect/>
          </a:stretch>
        </p:blipFill>
        <p:spPr>
          <a:xfrm>
            <a:off x="685800" y="3154680"/>
            <a:ext cx="2148840" cy="355498"/>
          </a:xfrm>
          <a:prstGeom prst="rect">
            <a:avLst/>
          </a:prstGeom>
        </p:spPr>
      </p:pic>
      <p:sp>
        <p:nvSpPr>
          <p:cNvPr id="10" name="Shape 6"/>
          <p:cNvSpPr/>
          <p:nvPr/>
        </p:nvSpPr>
        <p:spPr>
          <a:xfrm>
            <a:off x="3264408" y="1371600"/>
            <a:ext cx="2606040" cy="2651760"/>
          </a:xfrm>
          <a:prstGeom prst="roundRect">
            <a:avLst>
              <a:gd name="adj" fmla="val 2807"/>
            </a:avLst>
          </a:prstGeom>
          <a:solidFill>
            <a:srgbClr val="16223A"/>
          </a:solidFill>
          <a:ln w="12700">
            <a:solidFill>
              <a:srgbClr val="16223A"/>
            </a:solidFill>
            <a:prstDash val="solid"/>
          </a:ln>
        </p:spPr>
      </p:sp>
      <p:sp>
        <p:nvSpPr>
          <p:cNvPr id="11" name="Shape 7"/>
          <p:cNvSpPr/>
          <p:nvPr/>
        </p:nvSpPr>
        <p:spPr>
          <a:xfrm>
            <a:off x="3493008" y="1600200"/>
            <a:ext cx="548640" cy="548640"/>
          </a:xfrm>
          <a:prstGeom prst="ellipse">
            <a:avLst/>
          </a:prstGeom>
          <a:solidFill>
            <a:srgbClr val="4FD1E8"/>
          </a:solidFill>
          <a:ln w="12700">
            <a:solidFill>
              <a:srgbClr val="4FD1E8"/>
            </a:solidFill>
            <a:prstDash val="solid"/>
          </a:ln>
        </p:spPr>
      </p:sp>
      <p:pic>
        <p:nvPicPr>
          <p:cNvPr id="12" name="Image 2" descr="preencoded.png">    </p:cNvPr>
          <p:cNvPicPr>
            <a:picLocks noChangeAspect="1"/>
          </p:cNvPicPr>
          <p:nvPr/>
        </p:nvPicPr>
        <p:blipFill>
          <a:blip r:embed="rId3"/>
          <a:stretch>
            <a:fillRect/>
          </a:stretch>
        </p:blipFill>
        <p:spPr>
          <a:xfrm>
            <a:off x="3621024" y="1728216"/>
            <a:ext cx="292608" cy="292608"/>
          </a:xfrm>
          <a:prstGeom prst="rect">
            <a:avLst/>
          </a:prstGeom>
        </p:spPr>
      </p:pic>
      <p:sp>
        <p:nvSpPr>
          <p:cNvPr id="13" name="Text 8"/>
          <p:cNvSpPr txBox="1"/>
          <p:nvPr/>
        </p:nvSpPr>
        <p:spPr>
          <a:xfrm>
            <a:off x="3493008" y="2331720"/>
            <a:ext cx="2148840" cy="365760"/>
          </a:xfrm>
          <a:prstGeom prst="rect">
            <a:avLst/>
          </a:prstGeom>
          <a:noFill/>
          <a:ln/>
        </p:spPr>
        <p:txBody>
          <a:bodyPr wrap="square" lIns="0" tIns="0" rIns="0" bIns="0" rtlCol="0" anchor="t"/>
          <a:lstStyle/>
          <a:p>
            <a:pPr indent="0" marL="0">
              <a:buNone/>
            </a:pPr>
            <a:r>
              <a:rPr lang="en-US" sz="1700" b="1" dirty="0">
                <a:solidFill>
                  <a:srgbClr val="EAF0FA"/>
                </a:solidFill>
                <a:latin typeface="Calibri" pitchFamily="34" charset="0"/>
                <a:ea typeface="Calibri" pitchFamily="34" charset="-122"/>
                <a:cs typeface="Calibri" pitchFamily="34" charset="-120"/>
              </a:rPr>
              <a:t>2 · Learn from data</a:t>
            </a:r>
            <a:endParaRPr lang="en-US" sz="1700" dirty="0"/>
          </a:p>
        </p:txBody>
      </p:sp>
      <p:sp>
        <p:nvSpPr>
          <p:cNvPr id="14" name="Text 9"/>
          <p:cNvSpPr txBox="1"/>
          <p:nvPr/>
        </p:nvSpPr>
        <p:spPr>
          <a:xfrm>
            <a:off x="3493008" y="2697480"/>
            <a:ext cx="214884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Machine learning</a:t>
            </a:r>
            <a:endParaRPr lang="en-US" sz="1200" dirty="0"/>
          </a:p>
        </p:txBody>
      </p:sp>
      <p:sp>
        <p:nvSpPr>
          <p:cNvPr id="15" name="Text 10"/>
          <p:cNvSpPr txBox="1"/>
          <p:nvPr/>
        </p:nvSpPr>
        <p:spPr>
          <a:xfrm>
            <a:off x="3493008" y="3108960"/>
            <a:ext cx="2148840" cy="731520"/>
          </a:xfrm>
          <a:prstGeom prst="rect">
            <a:avLst/>
          </a:prstGeom>
          <a:noFill/>
          <a:ln/>
        </p:spPr>
        <p:txBody>
          <a:bodyPr wrap="square" lIns="0" tIns="0" rIns="0" bIns="0" rtlCol="0" anchor="t"/>
          <a:lstStyle/>
          <a:p>
            <a:pPr indent="0" marL="0">
              <a:buNone/>
            </a:pPr>
            <a:r>
              <a:rPr lang="en-US" sz="1400" dirty="0">
                <a:solidFill>
                  <a:srgbClr val="EAF0FA"/>
                </a:solidFill>
                <a:latin typeface="Calibri" pitchFamily="34" charset="0"/>
                <a:ea typeface="Calibri" pitchFamily="34" charset="-122"/>
                <a:cs typeface="Calibri" pitchFamily="34" charset="-120"/>
              </a:rPr>
              <a:t>Watch 1,000 throws.</a:t>
            </a:r>
            <a:endParaRPr lang="en-US" sz="1400" dirty="0"/>
          </a:p>
          <a:p>
            <a:pPr indent="0" marL="0">
              <a:buNone/>
            </a:pPr>
            <a:r>
              <a:rPr lang="en-US" sz="1400" dirty="0">
                <a:solidFill>
                  <a:srgbClr val="EAF0FA"/>
                </a:solidFill>
                <a:latin typeface="Calibri" pitchFamily="34" charset="0"/>
                <a:ea typeface="Calibri" pitchFamily="34" charset="-122"/>
                <a:cs typeface="Calibri" pitchFamily="34" charset="-120"/>
              </a:rPr>
              <a:t>Fit a pattern.</a:t>
            </a:r>
            <a:endParaRPr lang="en-US" sz="1400" dirty="0"/>
          </a:p>
        </p:txBody>
      </p:sp>
      <p:sp>
        <p:nvSpPr>
          <p:cNvPr id="16" name="Shape 11"/>
          <p:cNvSpPr/>
          <p:nvPr/>
        </p:nvSpPr>
        <p:spPr>
          <a:xfrm>
            <a:off x="6071616" y="1371600"/>
            <a:ext cx="2606040" cy="2651760"/>
          </a:xfrm>
          <a:prstGeom prst="roundRect">
            <a:avLst>
              <a:gd name="adj" fmla="val 2807"/>
            </a:avLst>
          </a:prstGeom>
          <a:solidFill>
            <a:srgbClr val="16223A"/>
          </a:solidFill>
          <a:ln w="12700">
            <a:solidFill>
              <a:srgbClr val="16223A"/>
            </a:solidFill>
            <a:prstDash val="solid"/>
          </a:ln>
        </p:spPr>
      </p:sp>
      <p:sp>
        <p:nvSpPr>
          <p:cNvPr id="17" name="Shape 12"/>
          <p:cNvSpPr/>
          <p:nvPr/>
        </p:nvSpPr>
        <p:spPr>
          <a:xfrm>
            <a:off x="6300216" y="1600200"/>
            <a:ext cx="548640" cy="548640"/>
          </a:xfrm>
          <a:prstGeom prst="ellipse">
            <a:avLst/>
          </a:prstGeom>
          <a:solidFill>
            <a:srgbClr val="F5A524"/>
          </a:solidFill>
          <a:ln w="12700">
            <a:solidFill>
              <a:srgbClr val="F5A524"/>
            </a:solidFill>
            <a:prstDash val="solid"/>
          </a:ln>
        </p:spPr>
      </p:sp>
      <p:pic>
        <p:nvPicPr>
          <p:cNvPr id="18" name="Image 3" descr="preencoded.png">    </p:cNvPr>
          <p:cNvPicPr>
            <a:picLocks noChangeAspect="1"/>
          </p:cNvPicPr>
          <p:nvPr/>
        </p:nvPicPr>
        <p:blipFill>
          <a:blip r:embed="rId4"/>
          <a:stretch>
            <a:fillRect/>
          </a:stretch>
        </p:blipFill>
        <p:spPr>
          <a:xfrm>
            <a:off x="6428232" y="1728216"/>
            <a:ext cx="292608" cy="292608"/>
          </a:xfrm>
          <a:prstGeom prst="rect">
            <a:avLst/>
          </a:prstGeom>
        </p:spPr>
      </p:pic>
      <p:sp>
        <p:nvSpPr>
          <p:cNvPr id="19" name="Text 13"/>
          <p:cNvSpPr txBox="1"/>
          <p:nvPr/>
        </p:nvSpPr>
        <p:spPr>
          <a:xfrm>
            <a:off x="6300216" y="2331720"/>
            <a:ext cx="2148840" cy="365760"/>
          </a:xfrm>
          <a:prstGeom prst="rect">
            <a:avLst/>
          </a:prstGeom>
          <a:noFill/>
          <a:ln/>
        </p:spPr>
        <p:txBody>
          <a:bodyPr wrap="square" lIns="0" tIns="0" rIns="0" bIns="0" rtlCol="0" anchor="t"/>
          <a:lstStyle/>
          <a:p>
            <a:pPr indent="0" marL="0">
              <a:buNone/>
            </a:pPr>
            <a:r>
              <a:rPr lang="en-US" sz="1700" b="1" dirty="0">
                <a:solidFill>
                  <a:srgbClr val="EAF0FA"/>
                </a:solidFill>
                <a:latin typeface="Calibri" pitchFamily="34" charset="0"/>
                <a:ea typeface="Calibri" pitchFamily="34" charset="-122"/>
                <a:cs typeface="Calibri" pitchFamily="34" charset="-120"/>
              </a:rPr>
              <a:t>3 · Learn by watching</a:t>
            </a:r>
            <a:endParaRPr lang="en-US" sz="1700" dirty="0"/>
          </a:p>
        </p:txBody>
      </p:sp>
      <p:sp>
        <p:nvSpPr>
          <p:cNvPr id="20" name="Text 14"/>
          <p:cNvSpPr txBox="1"/>
          <p:nvPr/>
        </p:nvSpPr>
        <p:spPr>
          <a:xfrm>
            <a:off x="6300216" y="2697480"/>
            <a:ext cx="214884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World models, 2025</a:t>
            </a:r>
            <a:endParaRPr lang="en-US" sz="1200" dirty="0"/>
          </a:p>
        </p:txBody>
      </p:sp>
      <p:sp>
        <p:nvSpPr>
          <p:cNvPr id="21" name="Text 15"/>
          <p:cNvSpPr txBox="1"/>
          <p:nvPr/>
        </p:nvSpPr>
        <p:spPr>
          <a:xfrm>
            <a:off x="6300216" y="3108960"/>
            <a:ext cx="2148840" cy="731520"/>
          </a:xfrm>
          <a:prstGeom prst="rect">
            <a:avLst/>
          </a:prstGeom>
          <a:noFill/>
          <a:ln/>
        </p:spPr>
        <p:txBody>
          <a:bodyPr wrap="square" lIns="0" tIns="0" rIns="0" bIns="0" rtlCol="0" anchor="t"/>
          <a:lstStyle/>
          <a:p>
            <a:pPr indent="0" marL="0">
              <a:buNone/>
            </a:pPr>
            <a:r>
              <a:rPr lang="en-US" sz="1400" dirty="0">
                <a:solidFill>
                  <a:srgbClr val="EAF0FA"/>
                </a:solidFill>
                <a:latin typeface="Calibri" pitchFamily="34" charset="0"/>
                <a:ea typeface="Calibri" pitchFamily="34" charset="-122"/>
                <a:cs typeface="Calibri" pitchFamily="34" charset="-120"/>
              </a:rPr>
              <a:t>Watch video of the world.</a:t>
            </a:r>
            <a:endParaRPr lang="en-US" sz="1400" dirty="0"/>
          </a:p>
          <a:p>
            <a:pPr indent="0" marL="0">
              <a:buNone/>
            </a:pPr>
            <a:r>
              <a:rPr lang="en-US" sz="1400" dirty="0">
                <a:solidFill>
                  <a:srgbClr val="EAF0FA"/>
                </a:solidFill>
                <a:latin typeface="Calibri" pitchFamily="34" charset="0"/>
                <a:ea typeface="Calibri" pitchFamily="34" charset="-122"/>
                <a:cs typeface="Calibri" pitchFamily="34" charset="-120"/>
              </a:rPr>
              <a:t>Build intuition.</a:t>
            </a:r>
            <a:endParaRPr lang="en-US" sz="1400" dirty="0"/>
          </a:p>
        </p:txBody>
      </p:sp>
      <p:sp>
        <p:nvSpPr>
          <p:cNvPr id="22" name="Text 16"/>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600" i="1" dirty="0">
                <a:solidFill>
                  <a:srgbClr val="F5A524"/>
                </a:solidFill>
                <a:latin typeface="Calibri" pitchFamily="34" charset="0"/>
                <a:ea typeface="Calibri" pitchFamily="34" charset="-122"/>
                <a:cs typeface="Calibri" pitchFamily="34" charset="-120"/>
              </a:rPr>
              <a:t>This talk moves from 1 to 3, and shows where they meet.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1 · WHAT IS AI, MATHEMATICALLY?</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AI is a function learned from data</a:t>
            </a:r>
            <a:endParaRPr lang="en-US" sz="3000" dirty="0"/>
          </a:p>
        </p:txBody>
      </p:sp>
      <p:sp>
        <p:nvSpPr>
          <p:cNvPr id="4" name="Shape 2"/>
          <p:cNvSpPr/>
          <p:nvPr/>
        </p:nvSpPr>
        <p:spPr>
          <a:xfrm>
            <a:off x="640080" y="1600200"/>
            <a:ext cx="1463040" cy="1005840"/>
          </a:xfrm>
          <a:prstGeom prst="roundRect">
            <a:avLst>
              <a:gd name="adj" fmla="val 7273"/>
            </a:avLst>
          </a:prstGeom>
          <a:solidFill>
            <a:srgbClr val="16223A"/>
          </a:solidFill>
          <a:ln w="12700">
            <a:solidFill>
              <a:srgbClr val="2A3A5C"/>
            </a:solidFill>
            <a:prstDash val="solid"/>
          </a:ln>
        </p:spPr>
      </p:sp>
      <p:sp>
        <p:nvSpPr>
          <p:cNvPr id="5" name="Text 3"/>
          <p:cNvSpPr txBox="1"/>
          <p:nvPr/>
        </p:nvSpPr>
        <p:spPr>
          <a:xfrm>
            <a:off x="640080" y="1600200"/>
            <a:ext cx="1463040" cy="1005840"/>
          </a:xfrm>
          <a:prstGeom prst="rect">
            <a:avLst/>
          </a:prstGeom>
          <a:noFill/>
          <a:ln/>
        </p:spPr>
        <p:txBody>
          <a:bodyPr wrap="square" lIns="508" tIns="508" rIns="508" bIns="508" rtlCol="0" anchor="ctr"/>
          <a:lstStyle/>
          <a:p>
            <a:pPr algn="ctr" indent="0" marL="0">
              <a:buNone/>
            </a:pPr>
            <a:r>
              <a:rPr lang="en-US" sz="1400" b="1" dirty="0">
                <a:solidFill>
                  <a:srgbClr val="EAF0FA"/>
                </a:solidFill>
                <a:latin typeface="Calibri" pitchFamily="34" charset="0"/>
                <a:ea typeface="Calibri" pitchFamily="34" charset="-122"/>
                <a:cs typeface="Calibri" pitchFamily="34" charset="-120"/>
              </a:rPr>
              <a:t>x</a:t>
            </a:r>
            <a:endParaRPr lang="en-US" sz="1400" dirty="0"/>
          </a:p>
          <a:p>
            <a:pPr algn="ctr" indent="0" marL="0">
              <a:buNone/>
            </a:pPr>
            <a:r>
              <a:rPr lang="en-US" sz="1400" b="1" dirty="0">
                <a:solidFill>
                  <a:srgbClr val="EAF0FA"/>
                </a:solidFill>
                <a:latin typeface="Calibri" pitchFamily="34" charset="0"/>
                <a:ea typeface="Calibri" pitchFamily="34" charset="-122"/>
                <a:cs typeface="Calibri" pitchFamily="34" charset="-120"/>
              </a:rPr>
              <a:t>state now</a:t>
            </a:r>
            <a:endParaRPr lang="en-US" sz="1400" dirty="0"/>
          </a:p>
        </p:txBody>
      </p:sp>
      <p:sp>
        <p:nvSpPr>
          <p:cNvPr id="6" name="Shape 4"/>
          <p:cNvSpPr/>
          <p:nvPr/>
        </p:nvSpPr>
        <p:spPr>
          <a:xfrm>
            <a:off x="2194560" y="2103120"/>
            <a:ext cx="822960" cy="0"/>
          </a:xfrm>
          <a:prstGeom prst="line">
            <a:avLst/>
          </a:prstGeom>
          <a:noFill/>
          <a:ln w="25400">
            <a:solidFill>
              <a:srgbClr val="4FD1E8"/>
            </a:solidFill>
            <a:prstDash val="solid"/>
            <a:tailEnd type="triangle"/>
          </a:ln>
        </p:spPr>
      </p:sp>
      <p:sp>
        <p:nvSpPr>
          <p:cNvPr id="7" name="Shape 5"/>
          <p:cNvSpPr/>
          <p:nvPr/>
        </p:nvSpPr>
        <p:spPr>
          <a:xfrm>
            <a:off x="3108960" y="1463040"/>
            <a:ext cx="2011680" cy="1280160"/>
          </a:xfrm>
          <a:prstGeom prst="roundRect">
            <a:avLst>
              <a:gd name="adj" fmla="val 5714"/>
            </a:avLst>
          </a:prstGeom>
          <a:solidFill>
            <a:srgbClr val="4FD1E8"/>
          </a:solidFill>
          <a:ln w="12700">
            <a:solidFill>
              <a:srgbClr val="4FD1E8"/>
            </a:solidFill>
            <a:prstDash val="solid"/>
          </a:ln>
        </p:spPr>
      </p:sp>
      <p:sp>
        <p:nvSpPr>
          <p:cNvPr id="8" name="Text 6"/>
          <p:cNvSpPr txBox="1"/>
          <p:nvPr/>
        </p:nvSpPr>
        <p:spPr>
          <a:xfrm>
            <a:off x="3108960" y="1463040"/>
            <a:ext cx="2011680" cy="1280160"/>
          </a:xfrm>
          <a:prstGeom prst="rect">
            <a:avLst/>
          </a:prstGeom>
          <a:noFill/>
          <a:ln/>
        </p:spPr>
        <p:txBody>
          <a:bodyPr wrap="square" lIns="508" tIns="508" rIns="508" bIns="508" rtlCol="0" anchor="ctr"/>
          <a:lstStyle/>
          <a:p>
            <a:pPr algn="ctr" indent="0" marL="0">
              <a:buNone/>
            </a:pPr>
            <a:r>
              <a:rPr lang="en-US" sz="2800" b="1" dirty="0">
                <a:solidFill>
                  <a:srgbClr val="0B1426"/>
                </a:solidFill>
                <a:latin typeface="Calibri" pitchFamily="34" charset="0"/>
                <a:ea typeface="Calibri" pitchFamily="34" charset="-122"/>
                <a:cs typeface="Calibri" pitchFamily="34" charset="-120"/>
              </a:rPr>
              <a:t>f θ</a:t>
            </a:r>
            <a:endParaRPr lang="en-US" sz="2800" dirty="0"/>
          </a:p>
        </p:txBody>
      </p:sp>
      <p:sp>
        <p:nvSpPr>
          <p:cNvPr id="9" name="Shape 7"/>
          <p:cNvSpPr/>
          <p:nvPr/>
        </p:nvSpPr>
        <p:spPr>
          <a:xfrm>
            <a:off x="5212080" y="2103120"/>
            <a:ext cx="822960" cy="0"/>
          </a:xfrm>
          <a:prstGeom prst="line">
            <a:avLst/>
          </a:prstGeom>
          <a:noFill/>
          <a:ln w="25400">
            <a:solidFill>
              <a:srgbClr val="4FD1E8"/>
            </a:solidFill>
            <a:prstDash val="solid"/>
            <a:tailEnd type="triangle"/>
          </a:ln>
        </p:spPr>
      </p:sp>
      <p:sp>
        <p:nvSpPr>
          <p:cNvPr id="10" name="Shape 8"/>
          <p:cNvSpPr/>
          <p:nvPr/>
        </p:nvSpPr>
        <p:spPr>
          <a:xfrm>
            <a:off x="6126480" y="1600200"/>
            <a:ext cx="1463040" cy="1005840"/>
          </a:xfrm>
          <a:prstGeom prst="roundRect">
            <a:avLst>
              <a:gd name="adj" fmla="val 7273"/>
            </a:avLst>
          </a:prstGeom>
          <a:solidFill>
            <a:srgbClr val="16223A"/>
          </a:solidFill>
          <a:ln w="12700">
            <a:solidFill>
              <a:srgbClr val="2A3A5C"/>
            </a:solidFill>
            <a:prstDash val="solid"/>
          </a:ln>
        </p:spPr>
      </p:sp>
      <p:sp>
        <p:nvSpPr>
          <p:cNvPr id="11" name="Text 9"/>
          <p:cNvSpPr txBox="1"/>
          <p:nvPr/>
        </p:nvSpPr>
        <p:spPr>
          <a:xfrm>
            <a:off x="6126480" y="1600200"/>
            <a:ext cx="1463040" cy="1005840"/>
          </a:xfrm>
          <a:prstGeom prst="rect">
            <a:avLst/>
          </a:prstGeom>
          <a:noFill/>
          <a:ln/>
        </p:spPr>
        <p:txBody>
          <a:bodyPr wrap="square" lIns="508" tIns="508" rIns="508" bIns="508" rtlCol="0" anchor="ctr"/>
          <a:lstStyle/>
          <a:p>
            <a:pPr algn="ctr" indent="0" marL="0">
              <a:buNone/>
            </a:pPr>
            <a:r>
              <a:rPr lang="en-US" sz="1400" b="1" dirty="0">
                <a:solidFill>
                  <a:srgbClr val="EAF0FA"/>
                </a:solidFill>
                <a:latin typeface="Calibri" pitchFamily="34" charset="0"/>
                <a:ea typeface="Calibri" pitchFamily="34" charset="-122"/>
                <a:cs typeface="Calibri" pitchFamily="34" charset="-120"/>
              </a:rPr>
              <a:t>ŷ</a:t>
            </a:r>
            <a:endParaRPr lang="en-US" sz="1400" dirty="0"/>
          </a:p>
          <a:p>
            <a:pPr algn="ctr" indent="0" marL="0">
              <a:buNone/>
            </a:pPr>
            <a:r>
              <a:rPr lang="en-US" sz="1400" b="1" dirty="0">
                <a:solidFill>
                  <a:srgbClr val="EAF0FA"/>
                </a:solidFill>
                <a:latin typeface="Calibri" pitchFamily="34" charset="0"/>
                <a:ea typeface="Calibri" pitchFamily="34" charset="-122"/>
                <a:cs typeface="Calibri" pitchFamily="34" charset="-120"/>
              </a:rPr>
              <a:t>state later</a:t>
            </a:r>
            <a:endParaRPr lang="en-US" sz="1400" dirty="0"/>
          </a:p>
        </p:txBody>
      </p:sp>
      <p:pic>
        <p:nvPicPr>
          <p:cNvPr id="12" name="Image 0" descr="assets/eq_f.png">    </p:cNvPr>
          <p:cNvPicPr>
            <a:picLocks noChangeAspect="1"/>
          </p:cNvPicPr>
          <p:nvPr/>
        </p:nvPicPr>
        <p:blipFill>
          <a:blip r:embed="rId1"/>
          <a:stretch>
            <a:fillRect/>
          </a:stretch>
        </p:blipFill>
        <p:spPr>
          <a:xfrm>
            <a:off x="640080" y="3246120"/>
            <a:ext cx="1844120" cy="548640"/>
          </a:xfrm>
          <a:prstGeom prst="rect">
            <a:avLst/>
          </a:prstGeom>
        </p:spPr>
      </p:pic>
      <p:sp>
        <p:nvSpPr>
          <p:cNvPr id="13" name="Text 10"/>
          <p:cNvSpPr txBox="1"/>
          <p:nvPr/>
        </p:nvSpPr>
        <p:spPr>
          <a:xfrm>
            <a:off x="3108960" y="3154680"/>
            <a:ext cx="5577840" cy="1097280"/>
          </a:xfrm>
          <a:prstGeom prst="rect">
            <a:avLst/>
          </a:prstGeom>
          <a:noFill/>
          <a:ln/>
        </p:spPr>
        <p:txBody>
          <a:bodyPr wrap="square" lIns="0" tIns="0" rIns="0" bIns="0" rtlCol="0" anchor="t"/>
          <a:lstStyle/>
          <a:p>
            <a:pPr indent="0" marL="0">
              <a:spcAft>
                <a:spcPts val="400"/>
              </a:spcAft>
              <a:buNone/>
            </a:pPr>
            <a:r>
              <a:rPr lang="en-US" sz="1500" b="1" dirty="0">
                <a:solidFill>
                  <a:srgbClr val="4FD1E8"/>
                </a:solidFill>
                <a:latin typeface="Calibri" pitchFamily="34" charset="0"/>
                <a:ea typeface="Calibri" pitchFamily="34" charset="-122"/>
                <a:cs typeface="Calibri" pitchFamily="34" charset="-120"/>
              </a:rPr>
              <a:t>x</a:t>
            </a:r>
            <a:pPr indent="0" marL="0">
              <a:spcAft>
                <a:spcPts val="400"/>
              </a:spcAft>
              <a:buNone/>
            </a:pPr>
            <a:r>
              <a:rPr lang="en-US" sz="1500" dirty="0">
                <a:solidFill>
                  <a:srgbClr val="EAF0FA"/>
                </a:solidFill>
                <a:latin typeface="Calibri" pitchFamily="34" charset="0"/>
                <a:ea typeface="Calibri" pitchFamily="34" charset="-122"/>
                <a:cs typeface="Calibri" pitchFamily="34" charset="-120"/>
              </a:rPr>
              <a:t>  what you know: the ball's position now</a:t>
            </a:r>
            <a:endParaRPr lang="en-US" sz="1500" dirty="0"/>
          </a:p>
          <a:p>
            <a:pPr indent="0" marL="0">
              <a:spcAft>
                <a:spcPts val="400"/>
              </a:spcAft>
              <a:buNone/>
            </a:pPr>
            <a:r>
              <a:rPr lang="en-US" sz="1500" b="1" dirty="0">
                <a:solidFill>
                  <a:srgbClr val="4FD1E8"/>
                </a:solidFill>
                <a:latin typeface="Calibri" pitchFamily="34" charset="0"/>
                <a:ea typeface="Calibri" pitchFamily="34" charset="-122"/>
                <a:cs typeface="Calibri" pitchFamily="34" charset="-120"/>
              </a:rPr>
              <a:t>ŷ</a:t>
            </a:r>
            <a:pPr indent="0" marL="0">
              <a:spcAft>
                <a:spcPts val="400"/>
              </a:spcAft>
              <a:buNone/>
            </a:pPr>
            <a:r>
              <a:rPr lang="en-US" sz="1500" dirty="0">
                <a:solidFill>
                  <a:srgbClr val="EAF0FA"/>
                </a:solidFill>
                <a:latin typeface="Calibri" pitchFamily="34" charset="0"/>
                <a:ea typeface="Calibri" pitchFamily="34" charset="-122"/>
                <a:cs typeface="Calibri" pitchFamily="34" charset="-120"/>
              </a:rPr>
              <a:t>  what you want: its position later</a:t>
            </a:r>
            <a:endParaRPr lang="en-US" sz="1500" dirty="0"/>
          </a:p>
          <a:p>
            <a:pPr indent="0" marL="0">
              <a:spcAft>
                <a:spcPts val="400"/>
              </a:spcAft>
              <a:buNone/>
            </a:pPr>
            <a:r>
              <a:rPr lang="en-US" sz="1500" b="1" dirty="0">
                <a:solidFill>
                  <a:srgbClr val="F5A524"/>
                </a:solidFill>
                <a:latin typeface="Calibri" pitchFamily="34" charset="0"/>
                <a:ea typeface="Calibri" pitchFamily="34" charset="-122"/>
                <a:cs typeface="Calibri" pitchFamily="34" charset="-120"/>
              </a:rPr>
              <a:t>θ</a:t>
            </a:r>
            <a:pPr indent="0" marL="0">
              <a:spcAft>
                <a:spcPts val="400"/>
              </a:spcAft>
              <a:buNone/>
            </a:pPr>
            <a:r>
              <a:rPr lang="en-US" sz="1500" dirty="0">
                <a:solidFill>
                  <a:srgbClr val="EAF0FA"/>
                </a:solidFill>
                <a:latin typeface="Calibri" pitchFamily="34" charset="0"/>
                <a:ea typeface="Calibri" pitchFamily="34" charset="-122"/>
                <a:cs typeface="Calibri" pitchFamily="34" charset="-120"/>
              </a:rPr>
              <a:t>  the adjustable numbers the machine learns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1 · WHAT IS AI, MATHEMATICALLY?</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Learning is statistics</a:t>
            </a:r>
            <a:endParaRPr lang="en-US" sz="3000" dirty="0"/>
          </a:p>
        </p:txBody>
      </p:sp>
      <p:pic>
        <p:nvPicPr>
          <p:cNvPr id="4" name="Image 0" descr="assets/eq_loss.png">    </p:cNvPr>
          <p:cNvPicPr>
            <a:picLocks noChangeAspect="1"/>
          </p:cNvPicPr>
          <p:nvPr/>
        </p:nvPicPr>
        <p:blipFill>
          <a:blip r:embed="rId1"/>
          <a:stretch>
            <a:fillRect/>
          </a:stretch>
        </p:blipFill>
        <p:spPr>
          <a:xfrm>
            <a:off x="457200" y="1417320"/>
            <a:ext cx="3931920" cy="1072971"/>
          </a:xfrm>
          <a:prstGeom prst="rect">
            <a:avLst/>
          </a:prstGeom>
        </p:spPr>
      </p:pic>
      <p:sp>
        <p:nvSpPr>
          <p:cNvPr id="5" name="Text 2"/>
          <p:cNvSpPr txBox="1"/>
          <p:nvPr/>
        </p:nvSpPr>
        <p:spPr>
          <a:xfrm>
            <a:off x="457200" y="2651760"/>
            <a:ext cx="3931920" cy="731520"/>
          </a:xfrm>
          <a:prstGeom prst="rect">
            <a:avLst/>
          </a:prstGeom>
          <a:noFill/>
          <a:ln/>
        </p:spPr>
        <p:txBody>
          <a:bodyPr wrap="square" lIns="0" tIns="0" rIns="0" bIns="0" rtlCol="0" anchor="t"/>
          <a:lstStyle/>
          <a:p>
            <a:pPr indent="0" marL="0">
              <a:buNone/>
            </a:pPr>
            <a:r>
              <a:rPr lang="en-US" sz="1500" dirty="0">
                <a:solidFill>
                  <a:srgbClr val="EAF0FA"/>
                </a:solidFill>
                <a:latin typeface="Calibri" pitchFamily="34" charset="0"/>
                <a:ea typeface="Calibri" pitchFamily="34" charset="-122"/>
                <a:cs typeface="Calibri" pitchFamily="34" charset="-120"/>
              </a:rPr>
              <a:t>Find the θ that makes the average squared error as small as possible: least squares.</a:t>
            </a:r>
            <a:endParaRPr lang="en-US" sz="1500" dirty="0"/>
          </a:p>
        </p:txBody>
      </p:sp>
      <p:sp>
        <p:nvSpPr>
          <p:cNvPr id="6" name="Text 3"/>
          <p:cNvSpPr txBox="1"/>
          <p:nvPr/>
        </p:nvSpPr>
        <p:spPr>
          <a:xfrm>
            <a:off x="457200" y="3566160"/>
            <a:ext cx="3931920" cy="457200"/>
          </a:xfrm>
          <a:prstGeom prst="rect">
            <a:avLst/>
          </a:prstGeom>
          <a:noFill/>
          <a:ln/>
        </p:spPr>
        <p:txBody>
          <a:bodyPr wrap="square" lIns="0" tIns="0" rIns="0" bIns="0" rtlCol="0" anchor="t"/>
          <a:lstStyle/>
          <a:p>
            <a:pPr indent="0" marL="0">
              <a:buNone/>
            </a:pPr>
            <a:r>
              <a:rPr lang="en-US" sz="1800" b="1" i="1" dirty="0">
                <a:solidFill>
                  <a:srgbClr val="F5A524"/>
                </a:solidFill>
                <a:latin typeface="Calibri" pitchFamily="34" charset="0"/>
                <a:ea typeface="Calibri" pitchFamily="34" charset="-122"/>
                <a:cs typeface="Calibri" pitchFamily="34" charset="-120"/>
              </a:rPr>
              <a:t>Linear regression is the simplest AI.</a:t>
            </a:r>
            <a:endParaRPr lang="en-US" sz="1800" dirty="0"/>
          </a:p>
        </p:txBody>
      </p:sp>
      <p:pic>
        <p:nvPicPr>
          <p:cNvPr id="7" name="Image 1" descr="assets/regression.png">    </p:cNvPr>
          <p:cNvPicPr>
            <a:picLocks noChangeAspect="1"/>
          </p:cNvPicPr>
          <p:nvPr/>
        </p:nvPicPr>
        <p:blipFill>
          <a:blip r:embed="rId2"/>
          <a:stretch>
            <a:fillRect/>
          </a:stretch>
        </p:blipFill>
        <p:spPr>
          <a:xfrm>
            <a:off x="4754880" y="1325880"/>
            <a:ext cx="3931920" cy="26099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1 · WHAT IS AI, MATHEMATICALLY?</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Learning is calculus</a:t>
            </a:r>
            <a:endParaRPr lang="en-US" sz="3000" dirty="0"/>
          </a:p>
        </p:txBody>
      </p:sp>
      <p:pic>
        <p:nvPicPr>
          <p:cNvPr id="4" name="Image 0" descr="assets/eq_gd.png">    </p:cNvPr>
          <p:cNvPicPr>
            <a:picLocks noChangeAspect="1"/>
          </p:cNvPicPr>
          <p:nvPr/>
        </p:nvPicPr>
        <p:blipFill>
          <a:blip r:embed="rId1"/>
          <a:stretch>
            <a:fillRect/>
          </a:stretch>
        </p:blipFill>
        <p:spPr>
          <a:xfrm>
            <a:off x="457200" y="1463040"/>
            <a:ext cx="3566160" cy="607686"/>
          </a:xfrm>
          <a:prstGeom prst="rect">
            <a:avLst/>
          </a:prstGeom>
        </p:spPr>
      </p:pic>
      <p:sp>
        <p:nvSpPr>
          <p:cNvPr id="5" name="Text 2"/>
          <p:cNvSpPr txBox="1"/>
          <p:nvPr/>
        </p:nvSpPr>
        <p:spPr>
          <a:xfrm>
            <a:off x="457200" y="2331720"/>
            <a:ext cx="402336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A"/>
                </a:solidFill>
                <a:latin typeface="Calibri" pitchFamily="34" charset="0"/>
                <a:ea typeface="Calibri" pitchFamily="34" charset="-122"/>
                <a:cs typeface="Calibri" pitchFamily="34" charset="-120"/>
              </a:rPr>
              <a:t>Take a small step downhill on the error surface.</a:t>
            </a:r>
            <a:endParaRPr lang="en-US" sz="1500" dirty="0"/>
          </a:p>
          <a:p>
            <a:pPr marL="342900" indent="-342900">
              <a:spcAft>
                <a:spcPts val="800"/>
              </a:spcAft>
              <a:buSzPct val="100000"/>
              <a:buChar char="•"/>
            </a:pPr>
            <a:r>
              <a:rPr lang="en-US" sz="1500" dirty="0">
                <a:solidFill>
                  <a:srgbClr val="EAF0FA"/>
                </a:solidFill>
                <a:latin typeface="Calibri" pitchFamily="34" charset="0"/>
                <a:ea typeface="Calibri" pitchFamily="34" charset="-122"/>
                <a:cs typeface="Calibri" pitchFamily="34" charset="-120"/>
              </a:rPr>
              <a:t>The slope ∇L for billions of parameters comes from the chain rule: backpropagation.</a:t>
            </a:r>
            <a:endParaRPr lang="en-US" sz="1500" dirty="0"/>
          </a:p>
          <a:p>
            <a:pPr marL="342900" indent="-342900">
              <a:spcAft>
                <a:spcPts val="800"/>
              </a:spcAft>
              <a:buSzPct val="100000"/>
              <a:buChar char="•"/>
            </a:pPr>
            <a:r>
              <a:rPr lang="en-US" sz="1500" dirty="0">
                <a:solidFill>
                  <a:srgbClr val="EAF0FA"/>
                </a:solidFill>
                <a:latin typeface="Calibri" pitchFamily="34" charset="0"/>
                <a:ea typeface="Calibri" pitchFamily="34" charset="-122"/>
                <a:cs typeface="Calibri" pitchFamily="34" charset="-120"/>
              </a:rPr>
              <a:t>PyTorch does it automatically (autograd).</a:t>
            </a:r>
            <a:endParaRPr lang="en-US" sz="1500" dirty="0"/>
          </a:p>
        </p:txBody>
      </p:sp>
      <p:pic>
        <p:nvPicPr>
          <p:cNvPr id="6" name="Image 1" descr="assets/loss_surface.png">    </p:cNvPr>
          <p:cNvPicPr>
            <a:picLocks noChangeAspect="1"/>
          </p:cNvPicPr>
          <p:nvPr/>
        </p:nvPicPr>
        <p:blipFill>
          <a:blip r:embed="rId2"/>
          <a:stretch>
            <a:fillRect/>
          </a:stretch>
        </p:blipFill>
        <p:spPr>
          <a:xfrm>
            <a:off x="4892040" y="1097280"/>
            <a:ext cx="3566160" cy="35661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1 · WHAT IS AI, MATHEMATICALLY?</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The catch</a:t>
            </a:r>
            <a:endParaRPr lang="en-US" sz="3000" dirty="0"/>
          </a:p>
        </p:txBody>
      </p:sp>
      <p:pic>
        <p:nvPicPr>
          <p:cNvPr id="4" name="Image 0" descr="assets/overfit.png">    </p:cNvPr>
          <p:cNvPicPr>
            <a:picLocks noChangeAspect="1"/>
          </p:cNvPicPr>
          <p:nvPr/>
        </p:nvPicPr>
        <p:blipFill>
          <a:blip r:embed="rId1"/>
          <a:stretch>
            <a:fillRect/>
          </a:stretch>
        </p:blipFill>
        <p:spPr>
          <a:xfrm>
            <a:off x="457200" y="1280160"/>
            <a:ext cx="5120640" cy="2837851"/>
          </a:xfrm>
          <a:prstGeom prst="rect">
            <a:avLst/>
          </a:prstGeom>
        </p:spPr>
      </p:pic>
      <p:sp>
        <p:nvSpPr>
          <p:cNvPr id="5" name="Text 2"/>
          <p:cNvSpPr txBox="1"/>
          <p:nvPr/>
        </p:nvSpPr>
        <p:spPr>
          <a:xfrm>
            <a:off x="5852160" y="1737360"/>
            <a:ext cx="2926080" cy="1188720"/>
          </a:xfrm>
          <a:prstGeom prst="rect">
            <a:avLst/>
          </a:prstGeom>
          <a:noFill/>
          <a:ln/>
        </p:spPr>
        <p:txBody>
          <a:bodyPr wrap="square" lIns="0" tIns="0" rIns="0" bIns="0" rtlCol="0" anchor="t"/>
          <a:lstStyle/>
          <a:p>
            <a:pPr indent="0" marL="0">
              <a:buNone/>
            </a:pPr>
            <a:r>
              <a:rPr lang="en-US" sz="2400" b="1" dirty="0">
                <a:solidFill>
                  <a:srgbClr val="F5A524"/>
                </a:solidFill>
                <a:latin typeface="Cambria" pitchFamily="34" charset="0"/>
                <a:ea typeface="Cambria" pitchFamily="34" charset="-122"/>
                <a:cs typeface="Cambria" pitchFamily="34" charset="-120"/>
              </a:rPr>
              <a:t>Data alone doesn't know the laws of nature.</a:t>
            </a:r>
            <a:endParaRPr lang="en-US" sz="2400" dirty="0"/>
          </a:p>
        </p:txBody>
      </p:sp>
      <p:sp>
        <p:nvSpPr>
          <p:cNvPr id="6" name="Text 3"/>
          <p:cNvSpPr txBox="1"/>
          <p:nvPr/>
        </p:nvSpPr>
        <p:spPr>
          <a:xfrm>
            <a:off x="5852160" y="3017520"/>
            <a:ext cx="2834640" cy="1097280"/>
          </a:xfrm>
          <a:prstGeom prst="rect">
            <a:avLst/>
          </a:prstGeom>
          <a:noFill/>
          <a:ln/>
        </p:spPr>
        <p:txBody>
          <a:bodyPr wrap="square" lIns="0" tIns="0" rIns="0" bIns="0" rtlCol="0" anchor="t"/>
          <a:lstStyle/>
          <a:p>
            <a:pPr indent="0" marL="0">
              <a:buNone/>
            </a:pPr>
            <a:r>
              <a:rPr lang="en-US" sz="1500" dirty="0">
                <a:solidFill>
                  <a:srgbClr val="8A9BB8"/>
                </a:solidFill>
                <a:latin typeface="Calibri" pitchFamily="34" charset="0"/>
                <a:ea typeface="Calibri" pitchFamily="34" charset="-122"/>
                <a:cs typeface="Calibri" pitchFamily="34" charset="-120"/>
              </a:rPr>
              <a:t>A model can fit every data point perfectly and still predict nonsense where it has no data.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2 · THE LANGUAGE: VECTORS AND TENSORS</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Everything becomes a vector</a:t>
            </a:r>
            <a:endParaRPr lang="en-US" sz="3000" dirty="0"/>
          </a:p>
        </p:txBody>
      </p:sp>
      <p:sp>
        <p:nvSpPr>
          <p:cNvPr id="4" name="Shape 2"/>
          <p:cNvSpPr/>
          <p:nvPr/>
        </p:nvSpPr>
        <p:spPr>
          <a:xfrm>
            <a:off x="457200" y="1371600"/>
            <a:ext cx="3977640" cy="1600200"/>
          </a:xfrm>
          <a:prstGeom prst="roundRect">
            <a:avLst>
              <a:gd name="adj" fmla="val 4571"/>
            </a:avLst>
          </a:prstGeom>
          <a:solidFill>
            <a:srgbClr val="16223A"/>
          </a:solidFill>
          <a:ln w="12700">
            <a:solidFill>
              <a:srgbClr val="16223A"/>
            </a:solidFill>
            <a:prstDash val="solid"/>
          </a:ln>
        </p:spPr>
      </p:sp>
      <p:sp>
        <p:nvSpPr>
          <p:cNvPr id="5" name="Text 3"/>
          <p:cNvSpPr txBox="1"/>
          <p:nvPr/>
        </p:nvSpPr>
        <p:spPr>
          <a:xfrm>
            <a:off x="685800" y="1536192"/>
            <a:ext cx="3657600" cy="274320"/>
          </a:xfrm>
          <a:prstGeom prst="rect">
            <a:avLst/>
          </a:prstGeom>
          <a:noFill/>
          <a:ln/>
        </p:spPr>
        <p:txBody>
          <a:bodyPr wrap="square" lIns="0" tIns="0" rIns="0" bIns="0" rtlCol="0" anchor="t"/>
          <a:lstStyle/>
          <a:p>
            <a:pPr indent="0" marL="0">
              <a:buNone/>
            </a:pPr>
            <a:r>
              <a:rPr lang="en-US" sz="1200" b="1" spc="100" kern="0" dirty="0">
                <a:solidFill>
                  <a:srgbClr val="8A9BB8"/>
                </a:solidFill>
                <a:latin typeface="Calibri" pitchFamily="34" charset="0"/>
                <a:ea typeface="Calibri" pitchFamily="34" charset="-122"/>
                <a:cs typeface="Calibri" pitchFamily="34" charset="-120"/>
              </a:rPr>
              <a:t>PHYSICS: the state of the ball</a:t>
            </a:r>
            <a:endParaRPr lang="en-US" sz="1200" dirty="0"/>
          </a:p>
        </p:txBody>
      </p:sp>
      <p:pic>
        <p:nvPicPr>
          <p:cNvPr id="6" name="Image 0" descr="assets/eq_state.png">    </p:cNvPr>
          <p:cNvPicPr>
            <a:picLocks noChangeAspect="1"/>
          </p:cNvPicPr>
          <p:nvPr/>
        </p:nvPicPr>
        <p:blipFill>
          <a:blip r:embed="rId1"/>
          <a:stretch>
            <a:fillRect/>
          </a:stretch>
        </p:blipFill>
        <p:spPr>
          <a:xfrm>
            <a:off x="685800" y="2011680"/>
            <a:ext cx="3108960" cy="553153"/>
          </a:xfrm>
          <a:prstGeom prst="rect">
            <a:avLst/>
          </a:prstGeom>
        </p:spPr>
      </p:pic>
      <p:sp>
        <p:nvSpPr>
          <p:cNvPr id="7" name="Shape 4"/>
          <p:cNvSpPr/>
          <p:nvPr/>
        </p:nvSpPr>
        <p:spPr>
          <a:xfrm>
            <a:off x="4709160" y="1371600"/>
            <a:ext cx="3977640" cy="1600200"/>
          </a:xfrm>
          <a:prstGeom prst="roundRect">
            <a:avLst>
              <a:gd name="adj" fmla="val 4571"/>
            </a:avLst>
          </a:prstGeom>
          <a:solidFill>
            <a:srgbClr val="16223A"/>
          </a:solidFill>
          <a:ln w="12700">
            <a:solidFill>
              <a:srgbClr val="16223A"/>
            </a:solidFill>
            <a:prstDash val="solid"/>
          </a:ln>
        </p:spPr>
      </p:sp>
      <p:sp>
        <p:nvSpPr>
          <p:cNvPr id="8" name="Text 5"/>
          <p:cNvSpPr txBox="1"/>
          <p:nvPr/>
        </p:nvSpPr>
        <p:spPr>
          <a:xfrm>
            <a:off x="4937760" y="1536192"/>
            <a:ext cx="3657600" cy="274320"/>
          </a:xfrm>
          <a:prstGeom prst="rect">
            <a:avLst/>
          </a:prstGeom>
          <a:noFill/>
          <a:ln/>
        </p:spPr>
        <p:txBody>
          <a:bodyPr wrap="square" lIns="0" tIns="0" rIns="0" bIns="0" rtlCol="0" anchor="t"/>
          <a:lstStyle/>
          <a:p>
            <a:pPr indent="0" marL="0">
              <a:buNone/>
            </a:pPr>
            <a:r>
              <a:rPr lang="en-US" sz="1200" b="1" spc="100" kern="0" dirty="0">
                <a:solidFill>
                  <a:srgbClr val="8A9BB8"/>
                </a:solidFill>
                <a:latin typeface="Calibri" pitchFamily="34" charset="0"/>
                <a:ea typeface="Calibri" pitchFamily="34" charset="-122"/>
                <a:cs typeface="Calibri" pitchFamily="34" charset="-120"/>
              </a:rPr>
              <a:t>AI: an embedding</a:t>
            </a:r>
            <a:endParaRPr lang="en-US" sz="1200" dirty="0"/>
          </a:p>
        </p:txBody>
      </p:sp>
      <p:sp>
        <p:nvSpPr>
          <p:cNvPr id="9" name="Text 6"/>
          <p:cNvSpPr txBox="1"/>
          <p:nvPr/>
        </p:nvSpPr>
        <p:spPr>
          <a:xfrm>
            <a:off x="4937760" y="1920240"/>
            <a:ext cx="3566160" cy="822960"/>
          </a:xfrm>
          <a:prstGeom prst="rect">
            <a:avLst/>
          </a:prstGeom>
          <a:noFill/>
          <a:ln/>
        </p:spPr>
        <p:txBody>
          <a:bodyPr wrap="square" lIns="0" tIns="0" rIns="0" bIns="0" rtlCol="0" anchor="t"/>
          <a:lstStyle/>
          <a:p>
            <a:pPr indent="0" marL="0">
              <a:buNone/>
            </a:pPr>
            <a:r>
              <a:rPr lang="en-US" sz="1500" dirty="0">
                <a:solidFill>
                  <a:srgbClr val="EAF0FA"/>
                </a:solidFill>
                <a:latin typeface="Calibri" pitchFamily="34" charset="0"/>
                <a:ea typeface="Calibri" pitchFamily="34" charset="-122"/>
                <a:cs typeface="Calibri" pitchFamily="34" charset="-120"/>
              </a:rPr>
              <a:t>A word, a pixel patch, a sensor reading → a list of ~1,000 numbers</a:t>
            </a:r>
            <a:endParaRPr lang="en-US" sz="1500" dirty="0"/>
          </a:p>
        </p:txBody>
      </p:sp>
      <p:sp>
        <p:nvSpPr>
          <p:cNvPr id="10" name="Text 7"/>
          <p:cNvSpPr txBox="1"/>
          <p:nvPr/>
        </p:nvSpPr>
        <p:spPr>
          <a:xfrm>
            <a:off x="457200" y="3337560"/>
            <a:ext cx="4114800" cy="365760"/>
          </a:xfrm>
          <a:prstGeom prst="rect">
            <a:avLst/>
          </a:prstGeom>
          <a:noFill/>
          <a:ln/>
        </p:spPr>
        <p:txBody>
          <a:bodyPr wrap="square" lIns="0" tIns="0" rIns="0" bIns="0" rtlCol="0" anchor="t"/>
          <a:lstStyle/>
          <a:p>
            <a:pPr indent="0" marL="0">
              <a:buNone/>
            </a:pPr>
            <a:r>
              <a:rPr lang="en-US" sz="1700" b="1" dirty="0">
                <a:solidFill>
                  <a:srgbClr val="F5A524"/>
                </a:solidFill>
                <a:latin typeface="Calibri" pitchFamily="34" charset="0"/>
                <a:ea typeface="Calibri" pitchFamily="34" charset="-122"/>
                <a:cs typeface="Calibri" pitchFamily="34" charset="-120"/>
              </a:rPr>
              <a:t>Similarity is a dot product</a:t>
            </a:r>
            <a:endParaRPr lang="en-US" sz="1700" dirty="0"/>
          </a:p>
        </p:txBody>
      </p:sp>
      <p:sp>
        <p:nvSpPr>
          <p:cNvPr id="11" name="Text 8"/>
          <p:cNvSpPr txBox="1"/>
          <p:nvPr/>
        </p:nvSpPr>
        <p:spPr>
          <a:xfrm>
            <a:off x="457200" y="3749040"/>
            <a:ext cx="4114800" cy="548640"/>
          </a:xfrm>
          <a:prstGeom prst="rect">
            <a:avLst/>
          </a:prstGeom>
          <a:noFill/>
          <a:ln/>
        </p:spPr>
        <p:txBody>
          <a:bodyPr wrap="square" lIns="0" tIns="0" rIns="0" bIns="0" rtlCol="0" anchor="t"/>
          <a:lstStyle/>
          <a:p>
            <a:pPr indent="0" marL="0">
              <a:buNone/>
            </a:pPr>
            <a:r>
              <a:rPr lang="en-US" sz="1400" dirty="0">
                <a:solidFill>
                  <a:srgbClr val="8A9BB8"/>
                </a:solidFill>
                <a:latin typeface="Calibri" pitchFamily="34" charset="0"/>
                <a:ea typeface="Calibri" pitchFamily="34" charset="-122"/>
                <a:cs typeface="Calibri" pitchFamily="34" charset="-120"/>
              </a:rPr>
              <a:t>Vectors that point the same way mean similar things.</a:t>
            </a:r>
            <a:endParaRPr lang="en-US" sz="1400" dirty="0"/>
          </a:p>
        </p:txBody>
      </p:sp>
      <p:pic>
        <p:nvPicPr>
          <p:cNvPr id="12" name="Image 1" descr="assets/eq_cos.png">    </p:cNvPr>
          <p:cNvPicPr>
            <a:picLocks noChangeAspect="1"/>
          </p:cNvPicPr>
          <p:nvPr/>
        </p:nvPicPr>
        <p:blipFill>
          <a:blip r:embed="rId2"/>
          <a:stretch>
            <a:fillRect/>
          </a:stretch>
        </p:blipFill>
        <p:spPr>
          <a:xfrm>
            <a:off x="4937760" y="3246120"/>
            <a:ext cx="2685011" cy="868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2 · THE LANGUAGE: VECTORS AND TENSORS</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A neural layer = a matrix + a bend</a:t>
            </a:r>
            <a:endParaRPr lang="en-US" sz="3000" dirty="0"/>
          </a:p>
        </p:txBody>
      </p:sp>
      <p:pic>
        <p:nvPicPr>
          <p:cNvPr id="4" name="Image 0" descr="assets/eq_layer.png">    </p:cNvPr>
          <p:cNvPicPr>
            <a:picLocks noChangeAspect="1"/>
          </p:cNvPicPr>
          <p:nvPr/>
        </p:nvPicPr>
        <p:blipFill>
          <a:blip r:embed="rId1"/>
          <a:stretch>
            <a:fillRect/>
          </a:stretch>
        </p:blipFill>
        <p:spPr>
          <a:xfrm>
            <a:off x="548640" y="1234440"/>
            <a:ext cx="2120917" cy="411480"/>
          </a:xfrm>
          <a:prstGeom prst="rect">
            <a:avLst/>
          </a:prstGeom>
        </p:spPr>
      </p:pic>
      <p:pic>
        <p:nvPicPr>
          <p:cNvPr id="5" name="Image 1" descr="assets/grid_warp.png">    </p:cNvPr>
          <p:cNvPicPr>
            <a:picLocks noChangeAspect="1"/>
          </p:cNvPicPr>
          <p:nvPr/>
        </p:nvPicPr>
        <p:blipFill>
          <a:blip r:embed="rId2"/>
          <a:stretch>
            <a:fillRect/>
          </a:stretch>
        </p:blipFill>
        <p:spPr>
          <a:xfrm>
            <a:off x="914400" y="1783080"/>
            <a:ext cx="7315200" cy="2433684"/>
          </a:xfrm>
          <a:prstGeom prst="rect">
            <a:avLst/>
          </a:prstGeom>
        </p:spPr>
      </p:pic>
      <p:sp>
        <p:nvSpPr>
          <p:cNvPr id="6" name="Text 2"/>
          <p:cNvSpPr txBox="1"/>
          <p:nvPr/>
        </p:nvSpPr>
        <p:spPr>
          <a:xfrm>
            <a:off x="548640" y="4343400"/>
            <a:ext cx="8046720" cy="457200"/>
          </a:xfrm>
          <a:prstGeom prst="rect">
            <a:avLst/>
          </a:prstGeom>
          <a:noFill/>
          <a:ln/>
        </p:spPr>
        <p:txBody>
          <a:bodyPr wrap="square" lIns="0" tIns="0" rIns="0" bIns="0" rtlCol="0" anchor="t"/>
          <a:lstStyle/>
          <a:p>
            <a:pPr indent="0" marL="0">
              <a:buNone/>
            </a:pPr>
            <a:r>
              <a:rPr lang="en-US" sz="1500" b="1" dirty="0">
                <a:solidFill>
                  <a:srgbClr val="4FD1E8"/>
                </a:solidFill>
                <a:latin typeface="Calibri" pitchFamily="34" charset="0"/>
                <a:ea typeface="Calibri" pitchFamily="34" charset="-122"/>
                <a:cs typeface="Calibri" pitchFamily="34" charset="-120"/>
              </a:rPr>
              <a:t>W</a:t>
            </a:r>
            <a:pPr indent="0" marL="0">
              <a:buNone/>
            </a:pPr>
            <a:r>
              <a:rPr lang="en-US" sz="1500" dirty="0">
                <a:solidFill>
                  <a:srgbClr val="EAF0FA"/>
                </a:solidFill>
                <a:latin typeface="Calibri" pitchFamily="34" charset="0"/>
                <a:ea typeface="Calibri" pitchFamily="34" charset="-122"/>
                <a:cs typeface="Calibri" pitchFamily="34" charset="-120"/>
              </a:rPr>
              <a:t> rotates, stretches and shears space.   </a:t>
            </a:r>
            <a:pPr indent="0" marL="0">
              <a:buNone/>
            </a:pPr>
            <a:r>
              <a:rPr lang="en-US" sz="1500" b="1" dirty="0">
                <a:solidFill>
                  <a:srgbClr val="F5A524"/>
                </a:solidFill>
                <a:latin typeface="Calibri" pitchFamily="34" charset="0"/>
                <a:ea typeface="Calibri" pitchFamily="34" charset="-122"/>
                <a:cs typeface="Calibri" pitchFamily="34" charset="-120"/>
              </a:rPr>
              <a:t>σ</a:t>
            </a:r>
            <a:pPr indent="0" marL="0">
              <a:buNone/>
            </a:pPr>
            <a:r>
              <a:rPr lang="en-US" sz="1500" dirty="0">
                <a:solidFill>
                  <a:srgbClr val="EAF0FA"/>
                </a:solidFill>
                <a:latin typeface="Calibri" pitchFamily="34" charset="0"/>
                <a:ea typeface="Calibri" pitchFamily="34" charset="-122"/>
                <a:cs typeface="Calibri" pitchFamily="34" charset="-120"/>
              </a:rPr>
              <a:t> bends it.   Stack layers → bend space into any shape you need.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2 · THE LANGUAGE: VECTORS AND TENSORS</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Tensors: from a scalar to a video</a:t>
            </a:r>
            <a:endParaRPr lang="en-US" sz="3000" dirty="0"/>
          </a:p>
        </p:txBody>
      </p:sp>
      <p:pic>
        <p:nvPicPr>
          <p:cNvPr id="4" name="Image 0" descr="assets/tensors.png">    </p:cNvPr>
          <p:cNvPicPr>
            <a:picLocks noChangeAspect="1"/>
          </p:cNvPicPr>
          <p:nvPr/>
        </p:nvPicPr>
        <p:blipFill>
          <a:blip r:embed="rId1"/>
          <a:stretch>
            <a:fillRect/>
          </a:stretch>
        </p:blipFill>
        <p:spPr>
          <a:xfrm>
            <a:off x="457200" y="1371600"/>
            <a:ext cx="8229600" cy="2147492"/>
          </a:xfrm>
          <a:prstGeom prst="rect">
            <a:avLst/>
          </a:prstGeom>
        </p:spPr>
      </p:pic>
      <p:sp>
        <p:nvSpPr>
          <p:cNvPr id="5" name="Shape 2"/>
          <p:cNvSpPr/>
          <p:nvPr/>
        </p:nvSpPr>
        <p:spPr>
          <a:xfrm>
            <a:off x="457200" y="3840480"/>
            <a:ext cx="8229600" cy="685800"/>
          </a:xfrm>
          <a:prstGeom prst="roundRect">
            <a:avLst>
              <a:gd name="adj" fmla="val 10667"/>
            </a:avLst>
          </a:prstGeom>
          <a:solidFill>
            <a:srgbClr val="16223A"/>
          </a:solidFill>
          <a:ln w="12700">
            <a:solidFill>
              <a:srgbClr val="16223A"/>
            </a:solidFill>
            <a:prstDash val="solid"/>
          </a:ln>
        </p:spPr>
      </p:sp>
      <p:sp>
        <p:nvSpPr>
          <p:cNvPr id="6" name="Text 3"/>
          <p:cNvSpPr txBox="1"/>
          <p:nvPr/>
        </p:nvSpPr>
        <p:spPr>
          <a:xfrm>
            <a:off x="685800" y="3840480"/>
            <a:ext cx="7863840" cy="685800"/>
          </a:xfrm>
          <a:prstGeom prst="rect">
            <a:avLst/>
          </a:prstGeom>
          <a:noFill/>
          <a:ln/>
        </p:spPr>
        <p:txBody>
          <a:bodyPr wrap="square" lIns="0" tIns="0" rIns="0" bIns="0" rtlCol="0" anchor="ctr"/>
          <a:lstStyle/>
          <a:p>
            <a:pPr indent="0" marL="0">
              <a:buNone/>
            </a:pPr>
            <a:r>
              <a:rPr lang="en-US" sz="1600" dirty="0">
                <a:solidFill>
                  <a:srgbClr val="EAF0FA"/>
                </a:solidFill>
                <a:latin typeface="Calibri" pitchFamily="34" charset="0"/>
                <a:ea typeface="Calibri" pitchFamily="34" charset="-122"/>
                <a:cs typeface="Calibri" pitchFamily="34" charset="-120"/>
              </a:rPr>
              <a:t>A 16-frame video clip  =  a tensor of shape  </a:t>
            </a:r>
            <a:pPr indent="0" marL="0">
              <a:buNone/>
            </a:pPr>
            <a:r>
              <a:rPr lang="en-US" sz="1600" b="1" dirty="0">
                <a:solidFill>
                  <a:srgbClr val="4FD1E8"/>
                </a:solidFill>
                <a:latin typeface="Calibri" pitchFamily="34" charset="0"/>
                <a:ea typeface="Calibri" pitchFamily="34" charset="-122"/>
                <a:cs typeface="Calibri" pitchFamily="34" charset="-120"/>
              </a:rPr>
              <a:t>16 × 3 × 256 × 256</a:t>
            </a:r>
            <a:pPr indent="0" marL="0">
              <a:buNone/>
            </a:pPr>
            <a:r>
              <a:rPr lang="en-US" sz="1600" dirty="0">
                <a:solidFill>
                  <a:srgbClr val="EAF0FA"/>
                </a:solidFill>
                <a:latin typeface="Calibri" pitchFamily="34" charset="0"/>
                <a:ea typeface="Calibri" pitchFamily="34" charset="-122"/>
                <a:cs typeface="Calibri" pitchFamily="34" charset="-120"/>
              </a:rPr>
              <a:t>  ≈ 3.1 million numbers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2 · THE LANGUAGE: VECTORS AND TENSORS</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Same mathematics for physics and AI</a:t>
            </a:r>
            <a:endParaRPr lang="en-US" sz="3000" dirty="0"/>
          </a:p>
        </p:txBody>
      </p:sp>
      <p:sp>
        <p:nvSpPr>
          <p:cNvPr id="4" name="Shape 2"/>
          <p:cNvSpPr/>
          <p:nvPr/>
        </p:nvSpPr>
        <p:spPr>
          <a:xfrm>
            <a:off x="457200" y="1371600"/>
            <a:ext cx="3977640" cy="2194560"/>
          </a:xfrm>
          <a:prstGeom prst="roundRect">
            <a:avLst>
              <a:gd name="adj" fmla="val 3333"/>
            </a:avLst>
          </a:prstGeom>
          <a:solidFill>
            <a:srgbClr val="16223A"/>
          </a:solidFill>
          <a:ln w="12700">
            <a:solidFill>
              <a:srgbClr val="16223A"/>
            </a:solidFill>
            <a:prstDash val="solid"/>
          </a:ln>
        </p:spPr>
      </p:sp>
      <p:sp>
        <p:nvSpPr>
          <p:cNvPr id="5" name="Shape 3"/>
          <p:cNvSpPr/>
          <p:nvPr/>
        </p:nvSpPr>
        <p:spPr>
          <a:xfrm>
            <a:off x="4709160" y="1371600"/>
            <a:ext cx="3977640" cy="2194560"/>
          </a:xfrm>
          <a:prstGeom prst="roundRect">
            <a:avLst>
              <a:gd name="adj" fmla="val 3333"/>
            </a:avLst>
          </a:prstGeom>
          <a:solidFill>
            <a:srgbClr val="16223A"/>
          </a:solidFill>
          <a:ln w="12700">
            <a:solidFill>
              <a:srgbClr val="16223A"/>
            </a:solidFill>
            <a:prstDash val="solid"/>
          </a:ln>
        </p:spPr>
      </p:sp>
      <p:sp>
        <p:nvSpPr>
          <p:cNvPr id="6" name="Text 4"/>
          <p:cNvSpPr txBox="1"/>
          <p:nvPr/>
        </p:nvSpPr>
        <p:spPr>
          <a:xfrm>
            <a:off x="685800" y="1536192"/>
            <a:ext cx="3657600" cy="274320"/>
          </a:xfrm>
          <a:prstGeom prst="rect">
            <a:avLst/>
          </a:prstGeom>
          <a:noFill/>
          <a:ln/>
        </p:spPr>
        <p:txBody>
          <a:bodyPr wrap="square" lIns="0" tIns="0" rIns="0" bIns="0" rtlCol="0" anchor="t"/>
          <a:lstStyle/>
          <a:p>
            <a:pPr indent="0" marL="0">
              <a:buNone/>
            </a:pPr>
            <a:r>
              <a:rPr lang="en-US" sz="1200" b="1" spc="100" kern="0" dirty="0">
                <a:solidFill>
                  <a:srgbClr val="8A9BB8"/>
                </a:solidFill>
                <a:latin typeface="Calibri" pitchFamily="34" charset="0"/>
                <a:ea typeface="Calibri" pitchFamily="34" charset="-122"/>
                <a:cs typeface="Calibri" pitchFamily="34" charset="-120"/>
              </a:rPr>
              <a:t>PHYSICS: stress to force</a:t>
            </a:r>
            <a:endParaRPr lang="en-US" sz="1200" dirty="0"/>
          </a:p>
        </p:txBody>
      </p:sp>
      <p:pic>
        <p:nvPicPr>
          <p:cNvPr id="7" name="Image 0" descr="assets/eq_stress.png">    </p:cNvPr>
          <p:cNvPicPr>
            <a:picLocks noChangeAspect="1"/>
          </p:cNvPicPr>
          <p:nvPr/>
        </p:nvPicPr>
        <p:blipFill>
          <a:blip r:embed="rId1"/>
          <a:stretch>
            <a:fillRect/>
          </a:stretch>
        </p:blipFill>
        <p:spPr>
          <a:xfrm>
            <a:off x="685800" y="2103120"/>
            <a:ext cx="1970468" cy="548640"/>
          </a:xfrm>
          <a:prstGeom prst="rect">
            <a:avLst/>
          </a:prstGeom>
        </p:spPr>
      </p:pic>
      <p:sp>
        <p:nvSpPr>
          <p:cNvPr id="8" name="Text 5"/>
          <p:cNvSpPr txBox="1"/>
          <p:nvPr/>
        </p:nvSpPr>
        <p:spPr>
          <a:xfrm>
            <a:off x="685800" y="2971800"/>
            <a:ext cx="3657600" cy="365760"/>
          </a:xfrm>
          <a:prstGeom prst="rect">
            <a:avLst/>
          </a:prstGeom>
          <a:noFill/>
          <a:ln/>
        </p:spPr>
        <p:txBody>
          <a:bodyPr wrap="square" lIns="0" tIns="0" rIns="0" bIns="0" rtlCol="0" anchor="t"/>
          <a:lstStyle/>
          <a:p>
            <a:pPr indent="0" marL="0">
              <a:buNone/>
            </a:pPr>
            <a:r>
              <a:rPr lang="en-US" sz="1300" dirty="0">
                <a:solidFill>
                  <a:srgbClr val="8A9BB8"/>
                </a:solidFill>
                <a:latin typeface="Calibri" pitchFamily="34" charset="0"/>
                <a:ea typeface="Calibri" pitchFamily="34" charset="-122"/>
                <a:cs typeface="Calibri" pitchFamily="34" charset="-120"/>
              </a:rPr>
              <a:t>Einstein summation over j</a:t>
            </a:r>
            <a:endParaRPr lang="en-US" sz="1300" dirty="0"/>
          </a:p>
        </p:txBody>
      </p:sp>
      <p:sp>
        <p:nvSpPr>
          <p:cNvPr id="9" name="Text 6"/>
          <p:cNvSpPr txBox="1"/>
          <p:nvPr/>
        </p:nvSpPr>
        <p:spPr>
          <a:xfrm>
            <a:off x="4937760" y="1536192"/>
            <a:ext cx="3657600" cy="274320"/>
          </a:xfrm>
          <a:prstGeom prst="rect">
            <a:avLst/>
          </a:prstGeom>
          <a:noFill/>
          <a:ln/>
        </p:spPr>
        <p:txBody>
          <a:bodyPr wrap="square" lIns="0" tIns="0" rIns="0" bIns="0" rtlCol="0" anchor="t"/>
          <a:lstStyle/>
          <a:p>
            <a:pPr indent="0" marL="0">
              <a:buNone/>
            </a:pPr>
            <a:r>
              <a:rPr lang="en-US" sz="1200" b="1" spc="100" kern="0" dirty="0">
                <a:solidFill>
                  <a:srgbClr val="8A9BB8"/>
                </a:solidFill>
                <a:latin typeface="Calibri" pitchFamily="34" charset="0"/>
                <a:ea typeface="Calibri" pitchFamily="34" charset="-122"/>
                <a:cs typeface="Calibri" pitchFamily="34" charset="-120"/>
              </a:rPr>
              <a:t>AI: attention in transformers</a:t>
            </a:r>
            <a:endParaRPr lang="en-US" sz="1200" dirty="0"/>
          </a:p>
        </p:txBody>
      </p:sp>
      <p:pic>
        <p:nvPicPr>
          <p:cNvPr id="10" name="Image 1" descr="assets/eq_attn.png">    </p:cNvPr>
          <p:cNvPicPr>
            <a:picLocks noChangeAspect="1"/>
          </p:cNvPicPr>
          <p:nvPr/>
        </p:nvPicPr>
        <p:blipFill>
          <a:blip r:embed="rId2"/>
          <a:stretch>
            <a:fillRect/>
          </a:stretch>
        </p:blipFill>
        <p:spPr>
          <a:xfrm>
            <a:off x="4937760" y="1965960"/>
            <a:ext cx="2768488" cy="777240"/>
          </a:xfrm>
          <a:prstGeom prst="rect">
            <a:avLst/>
          </a:prstGeom>
        </p:spPr>
      </p:pic>
      <p:sp>
        <p:nvSpPr>
          <p:cNvPr id="11" name="Text 7"/>
          <p:cNvSpPr txBox="1"/>
          <p:nvPr/>
        </p:nvSpPr>
        <p:spPr>
          <a:xfrm>
            <a:off x="4937760" y="2971800"/>
            <a:ext cx="3657600" cy="365760"/>
          </a:xfrm>
          <a:prstGeom prst="rect">
            <a:avLst/>
          </a:prstGeom>
          <a:noFill/>
          <a:ln/>
        </p:spPr>
        <p:txBody>
          <a:bodyPr wrap="square" lIns="0" tIns="0" rIns="0" bIns="0" rtlCol="0" anchor="t"/>
          <a:lstStyle/>
          <a:p>
            <a:pPr indent="0" marL="0">
              <a:buNone/>
            </a:pPr>
            <a:r>
              <a:rPr lang="en-US" sz="1300" dirty="0">
                <a:solidFill>
                  <a:srgbClr val="8A9BB8"/>
                </a:solidFill>
                <a:latin typeface="Calibri" pitchFamily="34" charset="0"/>
                <a:ea typeface="Calibri" pitchFamily="34" charset="-122"/>
                <a:cs typeface="Calibri" pitchFamily="34" charset="-120"/>
              </a:rPr>
              <a:t>Who interacts with whom, like forces</a:t>
            </a:r>
            <a:endParaRPr lang="en-US" sz="1300" dirty="0"/>
          </a:p>
        </p:txBody>
      </p:sp>
      <p:sp>
        <p:nvSpPr>
          <p:cNvPr id="12" name="Text 8"/>
          <p:cNvSpPr txBox="1"/>
          <p:nvPr/>
        </p:nvSpPr>
        <p:spPr>
          <a:xfrm>
            <a:off x="457200" y="3840480"/>
            <a:ext cx="5486400" cy="548640"/>
          </a:xfrm>
          <a:prstGeom prst="rect">
            <a:avLst/>
          </a:prstGeom>
          <a:noFill/>
          <a:ln/>
        </p:spPr>
        <p:txBody>
          <a:bodyPr wrap="square" lIns="0" tIns="0" rIns="0" bIns="0" rtlCol="0" anchor="t"/>
          <a:lstStyle/>
          <a:p>
            <a:pPr indent="0" marL="0">
              <a:buNone/>
            </a:pPr>
            <a:r>
              <a:rPr lang="en-US" sz="1600" i="1" dirty="0">
                <a:solidFill>
                  <a:srgbClr val="F5A524"/>
                </a:solidFill>
                <a:latin typeface="Calibri" pitchFamily="34" charset="0"/>
                <a:ea typeface="Calibri" pitchFamily="34" charset="-122"/>
                <a:cs typeface="Calibri" pitchFamily="34" charset="-120"/>
              </a:rPr>
              <a:t>Both are tensor contractions. GPUs exist to do them fast.</a:t>
            </a:r>
            <a:endParaRPr lang="en-US" sz="1600" dirty="0"/>
          </a:p>
        </p:txBody>
      </p:sp>
      <p:sp>
        <p:nvSpPr>
          <p:cNvPr id="13" name="Shape 9"/>
          <p:cNvSpPr/>
          <p:nvPr/>
        </p:nvSpPr>
        <p:spPr>
          <a:xfrm>
            <a:off x="5989320" y="4572000"/>
            <a:ext cx="2743200" cy="347472"/>
          </a:xfrm>
          <a:prstGeom prst="roundRect">
            <a:avLst>
              <a:gd name="adj" fmla="val 50000"/>
            </a:avLst>
          </a:prstGeom>
          <a:solidFill>
            <a:srgbClr val="F5A524"/>
          </a:solidFill>
          <a:ln w="12700">
            <a:solidFill>
              <a:srgbClr val="F5A524"/>
            </a:solidFill>
            <a:prstDash val="solid"/>
          </a:ln>
        </p:spPr>
      </p:sp>
      <p:sp>
        <p:nvSpPr>
          <p:cNvPr id="14" name="Text 10"/>
          <p:cNvSpPr txBox="1"/>
          <p:nvPr/>
        </p:nvSpPr>
        <p:spPr>
          <a:xfrm>
            <a:off x="5989320" y="4572000"/>
            <a:ext cx="2743200" cy="347472"/>
          </a:xfrm>
          <a:prstGeom prst="rect">
            <a:avLst/>
          </a:prstGeom>
          <a:noFill/>
          <a:ln/>
        </p:spPr>
        <p:txBody>
          <a:bodyPr wrap="square" lIns="0" tIns="0" rIns="0" bIns="0" rtlCol="0" anchor="ctr"/>
          <a:lstStyle/>
          <a:p>
            <a:pPr algn="ctr" indent="0" marL="0">
              <a:buNone/>
            </a:pPr>
            <a:r>
              <a:rPr lang="en-US" sz="1100" b="1" dirty="0">
                <a:solidFill>
                  <a:srgbClr val="0B1426"/>
                </a:solidFill>
                <a:latin typeface="Calibri" pitchFamily="34" charset="0"/>
                <a:ea typeface="Calibri" pitchFamily="34" charset="-122"/>
                <a:cs typeface="Calibri" pitchFamily="34" charset="-120"/>
              </a:rPr>
              <a:t>▶  LIVE DEMO  ·  1a  Tensors in PyTorch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3 · PUTTING PHYSICS INSIDE THE NETWORK</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The classical way: simulate the equation</a:t>
            </a:r>
            <a:endParaRPr lang="en-US" sz="3000" dirty="0"/>
          </a:p>
        </p:txBody>
      </p:sp>
      <p:pic>
        <p:nvPicPr>
          <p:cNvPr id="4" name="Image 0" descr="assets/eq_osc.png">    </p:cNvPr>
          <p:cNvPicPr>
            <a:picLocks noChangeAspect="1"/>
          </p:cNvPicPr>
          <p:nvPr/>
        </p:nvPicPr>
        <p:blipFill>
          <a:blip r:embed="rId1"/>
          <a:stretch>
            <a:fillRect/>
          </a:stretch>
        </p:blipFill>
        <p:spPr>
          <a:xfrm>
            <a:off x="457200" y="1463040"/>
            <a:ext cx="3750243" cy="548640"/>
          </a:xfrm>
          <a:prstGeom prst="rect">
            <a:avLst/>
          </a:prstGeom>
        </p:spPr>
      </p:pic>
      <p:sp>
        <p:nvSpPr>
          <p:cNvPr id="5" name="Text 2"/>
          <p:cNvSpPr txBox="1"/>
          <p:nvPr/>
        </p:nvSpPr>
        <p:spPr>
          <a:xfrm>
            <a:off x="457200" y="2148840"/>
            <a:ext cx="4206240" cy="365760"/>
          </a:xfrm>
          <a:prstGeom prst="rect">
            <a:avLst/>
          </a:prstGeom>
          <a:noFill/>
          <a:ln/>
        </p:spPr>
        <p:txBody>
          <a:bodyPr wrap="square" lIns="0" tIns="0" rIns="0" bIns="0" rtlCol="0" anchor="t"/>
          <a:lstStyle/>
          <a:p>
            <a:pPr indent="0" marL="0">
              <a:buNone/>
            </a:pPr>
            <a:r>
              <a:rPr lang="en-US" sz="1400" dirty="0">
                <a:solidFill>
                  <a:srgbClr val="8A9BB8"/>
                </a:solidFill>
                <a:latin typeface="Calibri" pitchFamily="34" charset="0"/>
                <a:ea typeface="Calibri" pitchFamily="34" charset="-122"/>
                <a:cs typeface="Calibri" pitchFamily="34" charset="-120"/>
              </a:rPr>
              <a:t>A mass on a spring with friction (Newton's second law)</a:t>
            </a:r>
            <a:endParaRPr lang="en-US" sz="1400" dirty="0"/>
          </a:p>
        </p:txBody>
      </p:sp>
      <p:sp>
        <p:nvSpPr>
          <p:cNvPr id="6" name="Text 3"/>
          <p:cNvSpPr txBox="1"/>
          <p:nvPr/>
        </p:nvSpPr>
        <p:spPr>
          <a:xfrm>
            <a:off x="457200" y="2697480"/>
            <a:ext cx="420624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A"/>
                </a:solidFill>
                <a:latin typeface="Calibri" pitchFamily="34" charset="0"/>
                <a:ea typeface="Calibri" pitchFamily="34" charset="-122"/>
                <a:cs typeface="Calibri" pitchFamily="34" charset="-120"/>
              </a:rPr>
              <a:t>Discretise time and space into small steps</a:t>
            </a:r>
            <a:endParaRPr lang="en-US" sz="1500" dirty="0"/>
          </a:p>
          <a:p>
            <a:pPr marL="342900" indent="-342900">
              <a:spcAft>
                <a:spcPts val="800"/>
              </a:spcAft>
              <a:buSzPct val="100000"/>
              <a:buChar char="•"/>
            </a:pPr>
            <a:r>
              <a:rPr lang="en-US" sz="1500" dirty="0">
                <a:solidFill>
                  <a:srgbClr val="EAF0FA"/>
                </a:solidFill>
                <a:latin typeface="Calibri" pitchFamily="34" charset="0"/>
                <a:ea typeface="Calibri" pitchFamily="34" charset="-122"/>
                <a:cs typeface="Calibri" pitchFamily="34" charset="-120"/>
              </a:rPr>
              <a:t>Solve step by step, very accurately</a:t>
            </a:r>
            <a:endParaRPr lang="en-US" sz="1500" dirty="0"/>
          </a:p>
          <a:p>
            <a:pPr marL="342900" indent="-342900">
              <a:spcAft>
                <a:spcPts val="800"/>
              </a:spcAft>
              <a:buSzPct val="100000"/>
              <a:buChar char="•"/>
            </a:pPr>
            <a:r>
              <a:rPr lang="en-US" sz="1500" dirty="0">
                <a:solidFill>
                  <a:srgbClr val="EAF0FA"/>
                </a:solidFill>
                <a:latin typeface="Calibri" pitchFamily="34" charset="0"/>
                <a:ea typeface="Calibri" pitchFamily="34" charset="-122"/>
                <a:cs typeface="Calibri" pitchFamily="34" charset="-120"/>
              </a:rPr>
              <a:t>But large problems (weather, turbulence, plasmas) take hours to days on supercomputers</a:t>
            </a:r>
            <a:endParaRPr lang="en-US" sz="1500" dirty="0"/>
          </a:p>
        </p:txBody>
      </p:sp>
      <p:sp>
        <p:nvSpPr>
          <p:cNvPr id="7" name="Shape 4"/>
          <p:cNvSpPr/>
          <p:nvPr/>
        </p:nvSpPr>
        <p:spPr>
          <a:xfrm>
            <a:off x="5029200" y="2331720"/>
            <a:ext cx="384048" cy="384048"/>
          </a:xfrm>
          <a:prstGeom prst="ellipse">
            <a:avLst/>
          </a:prstGeom>
          <a:solidFill>
            <a:srgbClr val="4FD1E8"/>
          </a:solidFill>
          <a:ln w="12700">
            <a:solidFill>
              <a:srgbClr val="4FD1E8"/>
            </a:solidFill>
            <a:prstDash val="solid"/>
          </a:ln>
        </p:spPr>
      </p:sp>
      <p:sp>
        <p:nvSpPr>
          <p:cNvPr id="8" name="Text 5"/>
          <p:cNvSpPr txBox="1"/>
          <p:nvPr/>
        </p:nvSpPr>
        <p:spPr>
          <a:xfrm>
            <a:off x="4937760" y="2788920"/>
            <a:ext cx="566928" cy="274320"/>
          </a:xfrm>
          <a:prstGeom prst="rect">
            <a:avLst/>
          </a:prstGeom>
          <a:noFill/>
          <a:ln/>
        </p:spPr>
        <p:txBody>
          <a:bodyPr wrap="square" lIns="0" tIns="0" rIns="0" bIns="0" rtlCol="0" anchor="ctr"/>
          <a:lstStyle/>
          <a:p>
            <a:pPr algn="ctr" indent="0" marL="0">
              <a:buNone/>
            </a:pPr>
            <a:r>
              <a:rPr lang="en-US" sz="1100" dirty="0">
                <a:solidFill>
                  <a:srgbClr val="8A9BB8"/>
                </a:solidFill>
                <a:latin typeface="Calibri" pitchFamily="34" charset="0"/>
                <a:ea typeface="Calibri" pitchFamily="34" charset="-122"/>
                <a:cs typeface="Calibri" pitchFamily="34" charset="-120"/>
              </a:rPr>
              <a:t>t0</a:t>
            </a:r>
            <a:endParaRPr lang="en-US" sz="1100" dirty="0"/>
          </a:p>
        </p:txBody>
      </p:sp>
      <p:sp>
        <p:nvSpPr>
          <p:cNvPr id="9" name="Shape 6"/>
          <p:cNvSpPr/>
          <p:nvPr/>
        </p:nvSpPr>
        <p:spPr>
          <a:xfrm>
            <a:off x="5431536" y="2523744"/>
            <a:ext cx="201168" cy="0"/>
          </a:xfrm>
          <a:prstGeom prst="line">
            <a:avLst/>
          </a:prstGeom>
          <a:noFill/>
          <a:ln w="25400">
            <a:solidFill>
              <a:srgbClr val="8A9BB8"/>
            </a:solidFill>
            <a:prstDash val="solid"/>
            <a:tailEnd type="triangle"/>
          </a:ln>
        </p:spPr>
      </p:sp>
      <p:sp>
        <p:nvSpPr>
          <p:cNvPr id="10" name="Shape 7"/>
          <p:cNvSpPr/>
          <p:nvPr/>
        </p:nvSpPr>
        <p:spPr>
          <a:xfrm>
            <a:off x="5650992" y="2331720"/>
            <a:ext cx="384048" cy="384048"/>
          </a:xfrm>
          <a:prstGeom prst="ellipse">
            <a:avLst/>
          </a:prstGeom>
          <a:solidFill>
            <a:srgbClr val="4FD1E8"/>
          </a:solidFill>
          <a:ln w="12700">
            <a:solidFill>
              <a:srgbClr val="4FD1E8"/>
            </a:solidFill>
            <a:prstDash val="solid"/>
          </a:ln>
        </p:spPr>
      </p:sp>
      <p:sp>
        <p:nvSpPr>
          <p:cNvPr id="11" name="Text 8"/>
          <p:cNvSpPr txBox="1"/>
          <p:nvPr/>
        </p:nvSpPr>
        <p:spPr>
          <a:xfrm>
            <a:off x="5559552" y="2788920"/>
            <a:ext cx="566928" cy="274320"/>
          </a:xfrm>
          <a:prstGeom prst="rect">
            <a:avLst/>
          </a:prstGeom>
          <a:noFill/>
          <a:ln/>
        </p:spPr>
        <p:txBody>
          <a:bodyPr wrap="square" lIns="0" tIns="0" rIns="0" bIns="0" rtlCol="0" anchor="ctr"/>
          <a:lstStyle/>
          <a:p>
            <a:pPr algn="ctr" indent="0" marL="0">
              <a:buNone/>
            </a:pPr>
            <a:r>
              <a:rPr lang="en-US" sz="1100" dirty="0">
                <a:solidFill>
                  <a:srgbClr val="8A9BB8"/>
                </a:solidFill>
                <a:latin typeface="Calibri" pitchFamily="34" charset="0"/>
                <a:ea typeface="Calibri" pitchFamily="34" charset="-122"/>
                <a:cs typeface="Calibri" pitchFamily="34" charset="-120"/>
              </a:rPr>
              <a:t>t1</a:t>
            </a:r>
            <a:endParaRPr lang="en-US" sz="1100" dirty="0"/>
          </a:p>
        </p:txBody>
      </p:sp>
      <p:sp>
        <p:nvSpPr>
          <p:cNvPr id="12" name="Shape 9"/>
          <p:cNvSpPr/>
          <p:nvPr/>
        </p:nvSpPr>
        <p:spPr>
          <a:xfrm>
            <a:off x="6053328" y="2523744"/>
            <a:ext cx="201168" cy="0"/>
          </a:xfrm>
          <a:prstGeom prst="line">
            <a:avLst/>
          </a:prstGeom>
          <a:noFill/>
          <a:ln w="25400">
            <a:solidFill>
              <a:srgbClr val="8A9BB8"/>
            </a:solidFill>
            <a:prstDash val="solid"/>
            <a:tailEnd type="triangle"/>
          </a:ln>
        </p:spPr>
      </p:sp>
      <p:sp>
        <p:nvSpPr>
          <p:cNvPr id="13" name="Shape 10"/>
          <p:cNvSpPr/>
          <p:nvPr/>
        </p:nvSpPr>
        <p:spPr>
          <a:xfrm>
            <a:off x="6272784" y="2331720"/>
            <a:ext cx="384048" cy="384048"/>
          </a:xfrm>
          <a:prstGeom prst="ellipse">
            <a:avLst/>
          </a:prstGeom>
          <a:solidFill>
            <a:srgbClr val="4FD1E8"/>
          </a:solidFill>
          <a:ln w="12700">
            <a:solidFill>
              <a:srgbClr val="4FD1E8"/>
            </a:solidFill>
            <a:prstDash val="solid"/>
          </a:ln>
        </p:spPr>
      </p:sp>
      <p:sp>
        <p:nvSpPr>
          <p:cNvPr id="14" name="Text 11"/>
          <p:cNvSpPr txBox="1"/>
          <p:nvPr/>
        </p:nvSpPr>
        <p:spPr>
          <a:xfrm>
            <a:off x="6181344" y="2788920"/>
            <a:ext cx="566928" cy="274320"/>
          </a:xfrm>
          <a:prstGeom prst="rect">
            <a:avLst/>
          </a:prstGeom>
          <a:noFill/>
          <a:ln/>
        </p:spPr>
        <p:txBody>
          <a:bodyPr wrap="square" lIns="0" tIns="0" rIns="0" bIns="0" rtlCol="0" anchor="ctr"/>
          <a:lstStyle/>
          <a:p>
            <a:pPr algn="ctr" indent="0" marL="0">
              <a:buNone/>
            </a:pPr>
            <a:r>
              <a:rPr lang="en-US" sz="1100" dirty="0">
                <a:solidFill>
                  <a:srgbClr val="8A9BB8"/>
                </a:solidFill>
                <a:latin typeface="Calibri" pitchFamily="34" charset="0"/>
                <a:ea typeface="Calibri" pitchFamily="34" charset="-122"/>
                <a:cs typeface="Calibri" pitchFamily="34" charset="-120"/>
              </a:rPr>
              <a:t>t2</a:t>
            </a:r>
            <a:endParaRPr lang="en-US" sz="1100" dirty="0"/>
          </a:p>
        </p:txBody>
      </p:sp>
      <p:sp>
        <p:nvSpPr>
          <p:cNvPr id="15" name="Shape 12"/>
          <p:cNvSpPr/>
          <p:nvPr/>
        </p:nvSpPr>
        <p:spPr>
          <a:xfrm>
            <a:off x="6675120" y="2523744"/>
            <a:ext cx="201168" cy="0"/>
          </a:xfrm>
          <a:prstGeom prst="line">
            <a:avLst/>
          </a:prstGeom>
          <a:noFill/>
          <a:ln w="25400">
            <a:solidFill>
              <a:srgbClr val="8A9BB8"/>
            </a:solidFill>
            <a:prstDash val="solid"/>
            <a:tailEnd type="triangle"/>
          </a:ln>
        </p:spPr>
      </p:sp>
      <p:sp>
        <p:nvSpPr>
          <p:cNvPr id="16" name="Shape 13"/>
          <p:cNvSpPr/>
          <p:nvPr/>
        </p:nvSpPr>
        <p:spPr>
          <a:xfrm>
            <a:off x="6894576" y="2331720"/>
            <a:ext cx="384048" cy="384048"/>
          </a:xfrm>
          <a:prstGeom prst="ellipse">
            <a:avLst/>
          </a:prstGeom>
          <a:solidFill>
            <a:srgbClr val="4FD1E8"/>
          </a:solidFill>
          <a:ln w="12700">
            <a:solidFill>
              <a:srgbClr val="4FD1E8"/>
            </a:solidFill>
            <a:prstDash val="solid"/>
          </a:ln>
        </p:spPr>
      </p:sp>
      <p:sp>
        <p:nvSpPr>
          <p:cNvPr id="17" name="Text 14"/>
          <p:cNvSpPr txBox="1"/>
          <p:nvPr/>
        </p:nvSpPr>
        <p:spPr>
          <a:xfrm>
            <a:off x="6803136" y="2788920"/>
            <a:ext cx="566928" cy="274320"/>
          </a:xfrm>
          <a:prstGeom prst="rect">
            <a:avLst/>
          </a:prstGeom>
          <a:noFill/>
          <a:ln/>
        </p:spPr>
        <p:txBody>
          <a:bodyPr wrap="square" lIns="0" tIns="0" rIns="0" bIns="0" rtlCol="0" anchor="ctr"/>
          <a:lstStyle/>
          <a:p>
            <a:pPr algn="ctr" indent="0" marL="0">
              <a:buNone/>
            </a:pPr>
            <a:r>
              <a:rPr lang="en-US" sz="1100" dirty="0">
                <a:solidFill>
                  <a:srgbClr val="8A9BB8"/>
                </a:solidFill>
                <a:latin typeface="Calibri" pitchFamily="34" charset="0"/>
                <a:ea typeface="Calibri" pitchFamily="34" charset="-122"/>
                <a:cs typeface="Calibri" pitchFamily="34" charset="-120"/>
              </a:rPr>
              <a:t>t3</a:t>
            </a:r>
            <a:endParaRPr lang="en-US" sz="1100" dirty="0"/>
          </a:p>
        </p:txBody>
      </p:sp>
      <p:sp>
        <p:nvSpPr>
          <p:cNvPr id="18" name="Shape 15"/>
          <p:cNvSpPr/>
          <p:nvPr/>
        </p:nvSpPr>
        <p:spPr>
          <a:xfrm>
            <a:off x="7296912" y="2523744"/>
            <a:ext cx="201168" cy="0"/>
          </a:xfrm>
          <a:prstGeom prst="line">
            <a:avLst/>
          </a:prstGeom>
          <a:noFill/>
          <a:ln w="25400">
            <a:solidFill>
              <a:srgbClr val="8A9BB8"/>
            </a:solidFill>
            <a:prstDash val="solid"/>
            <a:tailEnd type="triangle"/>
          </a:ln>
        </p:spPr>
      </p:sp>
      <p:sp>
        <p:nvSpPr>
          <p:cNvPr id="19" name="Shape 16"/>
          <p:cNvSpPr/>
          <p:nvPr/>
        </p:nvSpPr>
        <p:spPr>
          <a:xfrm>
            <a:off x="7516368" y="2331720"/>
            <a:ext cx="384048" cy="384048"/>
          </a:xfrm>
          <a:prstGeom prst="ellipse">
            <a:avLst/>
          </a:prstGeom>
          <a:solidFill>
            <a:srgbClr val="4FD1E8"/>
          </a:solidFill>
          <a:ln w="12700">
            <a:solidFill>
              <a:srgbClr val="4FD1E8"/>
            </a:solidFill>
            <a:prstDash val="solid"/>
          </a:ln>
        </p:spPr>
      </p:sp>
      <p:sp>
        <p:nvSpPr>
          <p:cNvPr id="20" name="Text 17"/>
          <p:cNvSpPr txBox="1"/>
          <p:nvPr/>
        </p:nvSpPr>
        <p:spPr>
          <a:xfrm>
            <a:off x="7424928" y="2788920"/>
            <a:ext cx="566928" cy="274320"/>
          </a:xfrm>
          <a:prstGeom prst="rect">
            <a:avLst/>
          </a:prstGeom>
          <a:noFill/>
          <a:ln/>
        </p:spPr>
        <p:txBody>
          <a:bodyPr wrap="square" lIns="0" tIns="0" rIns="0" bIns="0" rtlCol="0" anchor="ctr"/>
          <a:lstStyle/>
          <a:p>
            <a:pPr algn="ctr" indent="0" marL="0">
              <a:buNone/>
            </a:pPr>
            <a:r>
              <a:rPr lang="en-US" sz="1100" dirty="0">
                <a:solidFill>
                  <a:srgbClr val="8A9BB8"/>
                </a:solidFill>
                <a:latin typeface="Calibri" pitchFamily="34" charset="0"/>
                <a:ea typeface="Calibri" pitchFamily="34" charset="-122"/>
                <a:cs typeface="Calibri" pitchFamily="34" charset="-120"/>
              </a:rPr>
              <a:t>t4</a:t>
            </a:r>
            <a:endParaRPr lang="en-US" sz="1100" dirty="0"/>
          </a:p>
        </p:txBody>
      </p:sp>
      <p:sp>
        <p:nvSpPr>
          <p:cNvPr id="21" name="Shape 18"/>
          <p:cNvSpPr/>
          <p:nvPr/>
        </p:nvSpPr>
        <p:spPr>
          <a:xfrm>
            <a:off x="7918704" y="2523744"/>
            <a:ext cx="201168" cy="0"/>
          </a:xfrm>
          <a:prstGeom prst="line">
            <a:avLst/>
          </a:prstGeom>
          <a:noFill/>
          <a:ln w="25400">
            <a:solidFill>
              <a:srgbClr val="8A9BB8"/>
            </a:solidFill>
            <a:prstDash val="solid"/>
            <a:tailEnd type="triangle"/>
          </a:ln>
        </p:spPr>
      </p:sp>
      <p:sp>
        <p:nvSpPr>
          <p:cNvPr id="22" name="Shape 19"/>
          <p:cNvSpPr/>
          <p:nvPr/>
        </p:nvSpPr>
        <p:spPr>
          <a:xfrm>
            <a:off x="8138160" y="2331720"/>
            <a:ext cx="384048" cy="384048"/>
          </a:xfrm>
          <a:prstGeom prst="ellipse">
            <a:avLst/>
          </a:prstGeom>
          <a:solidFill>
            <a:srgbClr val="F5A524"/>
          </a:solidFill>
          <a:ln w="12700">
            <a:solidFill>
              <a:srgbClr val="F5A524"/>
            </a:solidFill>
            <a:prstDash val="solid"/>
          </a:ln>
        </p:spPr>
      </p:sp>
      <p:sp>
        <p:nvSpPr>
          <p:cNvPr id="23" name="Text 20"/>
          <p:cNvSpPr txBox="1"/>
          <p:nvPr/>
        </p:nvSpPr>
        <p:spPr>
          <a:xfrm>
            <a:off x="8046720" y="2788920"/>
            <a:ext cx="566928" cy="274320"/>
          </a:xfrm>
          <a:prstGeom prst="rect">
            <a:avLst/>
          </a:prstGeom>
          <a:noFill/>
          <a:ln/>
        </p:spPr>
        <p:txBody>
          <a:bodyPr wrap="square" lIns="0" tIns="0" rIns="0" bIns="0" rtlCol="0" anchor="ctr"/>
          <a:lstStyle/>
          <a:p>
            <a:pPr algn="ctr" indent="0" marL="0">
              <a:buNone/>
            </a:pPr>
            <a:r>
              <a:rPr lang="en-US" sz="1100" dirty="0">
                <a:solidFill>
                  <a:srgbClr val="8A9BB8"/>
                </a:solidFill>
                <a:latin typeface="Calibri" pitchFamily="34" charset="0"/>
                <a:ea typeface="Calibri" pitchFamily="34" charset="-122"/>
                <a:cs typeface="Calibri" pitchFamily="34" charset="-120"/>
              </a:rPr>
              <a:t>t5</a:t>
            </a:r>
            <a:endParaRPr lang="en-US" sz="1100" dirty="0"/>
          </a:p>
        </p:txBody>
      </p:sp>
      <p:sp>
        <p:nvSpPr>
          <p:cNvPr id="24" name="Text 21"/>
          <p:cNvSpPr txBox="1"/>
          <p:nvPr/>
        </p:nvSpPr>
        <p:spPr>
          <a:xfrm>
            <a:off x="5029200" y="3291840"/>
            <a:ext cx="3657600" cy="548640"/>
          </a:xfrm>
          <a:prstGeom prst="rect">
            <a:avLst/>
          </a:prstGeom>
          <a:noFill/>
          <a:ln/>
        </p:spPr>
        <p:txBody>
          <a:bodyPr wrap="square" lIns="0" tIns="0" rIns="0" bIns="0" rtlCol="0" anchor="t"/>
          <a:lstStyle/>
          <a:p>
            <a:pPr indent="0" marL="0">
              <a:buNone/>
            </a:pPr>
            <a:r>
              <a:rPr lang="en-US" sz="1300" i="1" dirty="0">
                <a:solidFill>
                  <a:srgbClr val="8A9BB8"/>
                </a:solidFill>
                <a:latin typeface="Calibri" pitchFamily="34" charset="0"/>
                <a:ea typeface="Calibri" pitchFamily="34" charset="-122"/>
                <a:cs typeface="Calibri" pitchFamily="34" charset="-120"/>
              </a:rPr>
              <a:t>x(t + Δt) = x(t) + Δt · …   repeated millions of times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3 · PUTTING PHYSICS INSIDE THE NETWORK</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Physics-informed neural networks (PINNs)</a:t>
            </a:r>
            <a:endParaRPr lang="en-US" sz="3000" dirty="0"/>
          </a:p>
        </p:txBody>
      </p:sp>
      <p:sp>
        <p:nvSpPr>
          <p:cNvPr id="4" name="Text 2"/>
          <p:cNvSpPr txBox="1"/>
          <p:nvPr/>
        </p:nvSpPr>
        <p:spPr>
          <a:xfrm>
            <a:off x="457200" y="1481328"/>
            <a:ext cx="731520" cy="457200"/>
          </a:xfrm>
          <a:prstGeom prst="rect">
            <a:avLst/>
          </a:prstGeom>
          <a:noFill/>
          <a:ln/>
        </p:spPr>
        <p:txBody>
          <a:bodyPr wrap="square" lIns="0" tIns="0" rIns="0" bIns="0" rtlCol="0" anchor="t"/>
          <a:lstStyle/>
          <a:p>
            <a:pPr indent="0" marL="0">
              <a:buNone/>
            </a:pPr>
            <a:r>
              <a:rPr lang="en-US" sz="2200" dirty="0">
                <a:solidFill>
                  <a:srgbClr val="EAF0FA"/>
                </a:solidFill>
                <a:latin typeface="Cambria" pitchFamily="34" charset="0"/>
                <a:ea typeface="Cambria" pitchFamily="34" charset="-122"/>
                <a:cs typeface="Cambria" pitchFamily="34" charset="-120"/>
              </a:rPr>
              <a:t>L  =</a:t>
            </a:r>
            <a:endParaRPr lang="en-US" sz="2200" dirty="0"/>
          </a:p>
        </p:txBody>
      </p:sp>
      <p:pic>
        <p:nvPicPr>
          <p:cNvPr id="5" name="Image 0" descr="assets/eq_pinn_data.png">    </p:cNvPr>
          <p:cNvPicPr>
            <a:picLocks noChangeAspect="1"/>
          </p:cNvPicPr>
          <p:nvPr/>
        </p:nvPicPr>
        <p:blipFill>
          <a:blip r:embed="rId1"/>
          <a:stretch>
            <a:fillRect/>
          </a:stretch>
        </p:blipFill>
        <p:spPr>
          <a:xfrm>
            <a:off x="1143000" y="1371600"/>
            <a:ext cx="1795711" cy="566928"/>
          </a:xfrm>
          <a:prstGeom prst="rect">
            <a:avLst/>
          </a:prstGeom>
        </p:spPr>
      </p:pic>
      <p:sp>
        <p:nvSpPr>
          <p:cNvPr id="6" name="Text 3"/>
          <p:cNvSpPr txBox="1"/>
          <p:nvPr/>
        </p:nvSpPr>
        <p:spPr>
          <a:xfrm>
            <a:off x="3063240" y="1481328"/>
            <a:ext cx="274320" cy="457200"/>
          </a:xfrm>
          <a:prstGeom prst="rect">
            <a:avLst/>
          </a:prstGeom>
          <a:noFill/>
          <a:ln/>
        </p:spPr>
        <p:txBody>
          <a:bodyPr wrap="square" lIns="0" tIns="0" rIns="0" bIns="0" rtlCol="0" anchor="t"/>
          <a:lstStyle/>
          <a:p>
            <a:pPr indent="0" marL="0">
              <a:buNone/>
            </a:pPr>
            <a:r>
              <a:rPr lang="en-US" sz="2200" dirty="0">
                <a:solidFill>
                  <a:srgbClr val="EAF0FA"/>
                </a:solidFill>
                <a:latin typeface="Calibri" pitchFamily="34" charset="0"/>
                <a:ea typeface="Calibri" pitchFamily="34" charset="-122"/>
                <a:cs typeface="Calibri" pitchFamily="34" charset="-120"/>
              </a:rPr>
              <a:t>+</a:t>
            </a:r>
            <a:endParaRPr lang="en-US" sz="2200" dirty="0"/>
          </a:p>
        </p:txBody>
      </p:sp>
      <p:pic>
        <p:nvPicPr>
          <p:cNvPr id="7" name="Image 1" descr="assets/eq_pinn_phys.png">    </p:cNvPr>
          <p:cNvPicPr>
            <a:picLocks noChangeAspect="1"/>
          </p:cNvPicPr>
          <p:nvPr/>
        </p:nvPicPr>
        <p:blipFill>
          <a:blip r:embed="rId2"/>
          <a:stretch>
            <a:fillRect/>
          </a:stretch>
        </p:blipFill>
        <p:spPr>
          <a:xfrm>
            <a:off x="3383280" y="1344168"/>
            <a:ext cx="2328184" cy="603504"/>
          </a:xfrm>
          <a:prstGeom prst="rect">
            <a:avLst/>
          </a:prstGeom>
        </p:spPr>
      </p:pic>
      <p:sp>
        <p:nvSpPr>
          <p:cNvPr id="8" name="Text 4"/>
          <p:cNvSpPr txBox="1"/>
          <p:nvPr/>
        </p:nvSpPr>
        <p:spPr>
          <a:xfrm>
            <a:off x="1143000" y="2011680"/>
            <a:ext cx="2011680" cy="274320"/>
          </a:xfrm>
          <a:prstGeom prst="rect">
            <a:avLst/>
          </a:prstGeom>
          <a:noFill/>
          <a:ln/>
        </p:spPr>
        <p:txBody>
          <a:bodyPr wrap="square" lIns="0" tIns="0" rIns="0" bIns="0" rtlCol="0" anchor="t"/>
          <a:lstStyle/>
          <a:p>
            <a:pPr indent="0" marL="0">
              <a:buNone/>
            </a:pPr>
            <a:r>
              <a:rPr lang="en-US" sz="1200" b="1" dirty="0">
                <a:solidFill>
                  <a:srgbClr val="F5A524"/>
                </a:solidFill>
                <a:latin typeface="Calibri" pitchFamily="34" charset="0"/>
                <a:ea typeface="Calibri" pitchFamily="34" charset="-122"/>
                <a:cs typeface="Calibri" pitchFamily="34" charset="-120"/>
              </a:rPr>
              <a:t>fit the 10 data points</a:t>
            </a:r>
            <a:endParaRPr lang="en-US" sz="1200" dirty="0"/>
          </a:p>
        </p:txBody>
      </p:sp>
      <p:sp>
        <p:nvSpPr>
          <p:cNvPr id="9" name="Text 5"/>
          <p:cNvSpPr txBox="1"/>
          <p:nvPr/>
        </p:nvSpPr>
        <p:spPr>
          <a:xfrm>
            <a:off x="3383280" y="2011680"/>
            <a:ext cx="2743200" cy="274320"/>
          </a:xfrm>
          <a:prstGeom prst="rect">
            <a:avLst/>
          </a:prstGeom>
          <a:noFill/>
          <a:ln/>
        </p:spPr>
        <p:txBody>
          <a:bodyPr wrap="square" lIns="0" tIns="0" rIns="0" bIns="0" rtlCol="0" anchor="t"/>
          <a:lstStyle/>
          <a:p>
            <a:pPr indent="0" marL="0">
              <a:buNone/>
            </a:pPr>
            <a:r>
              <a:rPr lang="en-US" sz="1200" b="1" dirty="0">
                <a:solidFill>
                  <a:srgbClr val="F5A524"/>
                </a:solidFill>
                <a:latin typeface="Calibri" pitchFamily="34" charset="0"/>
                <a:ea typeface="Calibri" pitchFamily="34" charset="-122"/>
                <a:cs typeface="Calibri" pitchFamily="34" charset="-120"/>
              </a:rPr>
              <a:t>obey Newton's law everywhere</a:t>
            </a:r>
            <a:endParaRPr lang="en-US" sz="1200" dirty="0"/>
          </a:p>
        </p:txBody>
      </p:sp>
      <p:pic>
        <p:nvPicPr>
          <p:cNvPr id="10" name="Image 2" descr="assets/oscillator.png">    </p:cNvPr>
          <p:cNvPicPr>
            <a:picLocks noChangeAspect="1"/>
          </p:cNvPicPr>
          <p:nvPr/>
        </p:nvPicPr>
        <p:blipFill>
          <a:blip r:embed="rId3"/>
          <a:stretch>
            <a:fillRect/>
          </a:stretch>
        </p:blipFill>
        <p:spPr>
          <a:xfrm>
            <a:off x="457200" y="2377440"/>
            <a:ext cx="4303846" cy="2148840"/>
          </a:xfrm>
          <a:prstGeom prst="rect">
            <a:avLst/>
          </a:prstGeom>
        </p:spPr>
      </p:pic>
      <p:sp>
        <p:nvSpPr>
          <p:cNvPr id="11" name="Text 6"/>
          <p:cNvSpPr txBox="1"/>
          <p:nvPr/>
        </p:nvSpPr>
        <p:spPr>
          <a:xfrm>
            <a:off x="4983480" y="2514600"/>
            <a:ext cx="374904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AF0FA"/>
                </a:solidFill>
                <a:latin typeface="Calibri" pitchFamily="34" charset="0"/>
                <a:ea typeface="Calibri" pitchFamily="34" charset="-122"/>
                <a:cs typeface="Calibri" pitchFamily="34" charset="-120"/>
              </a:rPr>
              <a:t>Autograd gives ẋ and ẍ exactly</a:t>
            </a:r>
            <a:endParaRPr lang="en-US" sz="1400" dirty="0"/>
          </a:p>
          <a:p>
            <a:pPr marL="342900" indent="-342900">
              <a:spcAft>
                <a:spcPts val="800"/>
              </a:spcAft>
              <a:buSzPct val="100000"/>
              <a:buChar char="•"/>
            </a:pPr>
            <a:r>
              <a:rPr lang="en-US" sz="1400" dirty="0">
                <a:solidFill>
                  <a:srgbClr val="EAF0FA"/>
                </a:solidFill>
                <a:latin typeface="Calibri" pitchFamily="34" charset="0"/>
                <a:ea typeface="Calibri" pitchFamily="34" charset="-122"/>
                <a:cs typeface="Calibri" pitchFamily="34" charset="-120"/>
              </a:rPr>
              <a:t>10 points → the whole motion</a:t>
            </a:r>
            <a:endParaRPr lang="en-US" sz="1400" dirty="0"/>
          </a:p>
          <a:p>
            <a:pPr marL="342900" indent="-342900">
              <a:spcAft>
                <a:spcPts val="800"/>
              </a:spcAft>
              <a:buSzPct val="100000"/>
              <a:buChar char="•"/>
            </a:pPr>
            <a:r>
              <a:rPr lang="en-US" sz="1400" dirty="0">
                <a:solidFill>
                  <a:srgbClr val="EAF0FA"/>
                </a:solidFill>
                <a:latin typeface="Calibri" pitchFamily="34" charset="0"/>
                <a:ea typeface="Calibri" pitchFamily="34" charset="-122"/>
                <a:cs typeface="Calibri" pitchFamily="34" charset="-120"/>
              </a:rPr>
              <a:t>Make μ learnable → it discovers the friction coefficient</a:t>
            </a:r>
            <a:endParaRPr lang="en-US" sz="1400" dirty="0"/>
          </a:p>
        </p:txBody>
      </p:sp>
      <p:sp>
        <p:nvSpPr>
          <p:cNvPr id="12" name="Shape 7"/>
          <p:cNvSpPr/>
          <p:nvPr/>
        </p:nvSpPr>
        <p:spPr>
          <a:xfrm>
            <a:off x="5989320" y="4572000"/>
            <a:ext cx="2743200" cy="347472"/>
          </a:xfrm>
          <a:prstGeom prst="roundRect">
            <a:avLst>
              <a:gd name="adj" fmla="val 50000"/>
            </a:avLst>
          </a:prstGeom>
          <a:solidFill>
            <a:srgbClr val="F5A524"/>
          </a:solidFill>
          <a:ln w="12700">
            <a:solidFill>
              <a:srgbClr val="F5A524"/>
            </a:solidFill>
            <a:prstDash val="solid"/>
          </a:ln>
        </p:spPr>
      </p:sp>
      <p:sp>
        <p:nvSpPr>
          <p:cNvPr id="13" name="Text 8"/>
          <p:cNvSpPr txBox="1"/>
          <p:nvPr/>
        </p:nvSpPr>
        <p:spPr>
          <a:xfrm>
            <a:off x="5989320" y="4572000"/>
            <a:ext cx="2743200" cy="347472"/>
          </a:xfrm>
          <a:prstGeom prst="rect">
            <a:avLst/>
          </a:prstGeom>
          <a:noFill/>
          <a:ln/>
        </p:spPr>
        <p:txBody>
          <a:bodyPr wrap="square" lIns="0" tIns="0" rIns="0" bIns="0" rtlCol="0" anchor="ctr"/>
          <a:lstStyle/>
          <a:p>
            <a:pPr algn="ctr" indent="0" marL="0">
              <a:buNone/>
            </a:pPr>
            <a:r>
              <a:rPr lang="en-US" sz="1100" b="1" dirty="0">
                <a:solidFill>
                  <a:srgbClr val="0B1426"/>
                </a:solidFill>
                <a:latin typeface="Calibri" pitchFamily="34" charset="0"/>
                <a:ea typeface="Calibri" pitchFamily="34" charset="-122"/>
                <a:cs typeface="Calibri" pitchFamily="34" charset="-120"/>
              </a:rPr>
              <a:t>▶  LIVE DEMO  ·  1b  PINN + discovering μ</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3 · PUTTING PHYSICS INSIDE THE NETWORK</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Neural operators: learn the solver itself</a:t>
            </a:r>
            <a:endParaRPr lang="en-US" sz="3000" dirty="0"/>
          </a:p>
        </p:txBody>
      </p:sp>
      <p:pic>
        <p:nvPicPr>
          <p:cNvPr id="4" name="Image 0" descr="assets/eq_op.png">    </p:cNvPr>
          <p:cNvPicPr>
            <a:picLocks noChangeAspect="1"/>
          </p:cNvPicPr>
          <p:nvPr/>
        </p:nvPicPr>
        <p:blipFill>
          <a:blip r:embed="rId1"/>
          <a:stretch>
            <a:fillRect/>
          </a:stretch>
        </p:blipFill>
        <p:spPr>
          <a:xfrm>
            <a:off x="457200" y="1325880"/>
            <a:ext cx="3433603" cy="457200"/>
          </a:xfrm>
          <a:prstGeom prst="rect">
            <a:avLst/>
          </a:prstGeom>
        </p:spPr>
      </p:pic>
      <p:sp>
        <p:nvSpPr>
          <p:cNvPr id="5" name="Shape 2"/>
          <p:cNvSpPr/>
          <p:nvPr/>
        </p:nvSpPr>
        <p:spPr>
          <a:xfrm>
            <a:off x="457200" y="2103120"/>
            <a:ext cx="1005840" cy="548640"/>
          </a:xfrm>
          <a:prstGeom prst="roundRect">
            <a:avLst>
              <a:gd name="adj" fmla="val 13333"/>
            </a:avLst>
          </a:prstGeom>
          <a:solidFill>
            <a:srgbClr val="16223A"/>
          </a:solidFill>
          <a:ln w="12700">
            <a:solidFill>
              <a:srgbClr val="2A3A5C"/>
            </a:solidFill>
            <a:prstDash val="solid"/>
          </a:ln>
        </p:spPr>
      </p:sp>
      <p:sp>
        <p:nvSpPr>
          <p:cNvPr id="6" name="Text 3"/>
          <p:cNvSpPr txBox="1"/>
          <p:nvPr/>
        </p:nvSpPr>
        <p:spPr>
          <a:xfrm>
            <a:off x="457200" y="2103120"/>
            <a:ext cx="1005840" cy="548640"/>
          </a:xfrm>
          <a:prstGeom prst="rect">
            <a:avLst/>
          </a:prstGeom>
          <a:noFill/>
          <a:ln/>
        </p:spPr>
        <p:txBody>
          <a:bodyPr wrap="square" lIns="508" tIns="508" rIns="508" bIns="508" rtlCol="0" anchor="ctr"/>
          <a:lstStyle/>
          <a:p>
            <a:pPr algn="ctr" indent="0" marL="0">
              <a:buNone/>
            </a:pPr>
            <a:r>
              <a:rPr lang="en-US" sz="1300" b="1" dirty="0">
                <a:solidFill>
                  <a:srgbClr val="EAF0FA"/>
                </a:solidFill>
                <a:latin typeface="Calibri" pitchFamily="34" charset="0"/>
                <a:ea typeface="Calibri" pitchFamily="34" charset="-122"/>
                <a:cs typeface="Calibri" pitchFamily="34" charset="-120"/>
              </a:rPr>
              <a:t>u(x, 0)</a:t>
            </a:r>
            <a:endParaRPr lang="en-US" sz="1300" dirty="0"/>
          </a:p>
        </p:txBody>
      </p:sp>
      <p:sp>
        <p:nvSpPr>
          <p:cNvPr id="7" name="Shape 4"/>
          <p:cNvSpPr/>
          <p:nvPr/>
        </p:nvSpPr>
        <p:spPr>
          <a:xfrm>
            <a:off x="1490472" y="2377440"/>
            <a:ext cx="219456" cy="0"/>
          </a:xfrm>
          <a:prstGeom prst="line">
            <a:avLst/>
          </a:prstGeom>
          <a:noFill/>
          <a:ln w="25400">
            <a:solidFill>
              <a:srgbClr val="8A9BB8"/>
            </a:solidFill>
            <a:prstDash val="solid"/>
            <a:tailEnd type="triangle"/>
          </a:ln>
        </p:spPr>
      </p:sp>
      <p:sp>
        <p:nvSpPr>
          <p:cNvPr id="8" name="Shape 5"/>
          <p:cNvSpPr/>
          <p:nvPr/>
        </p:nvSpPr>
        <p:spPr>
          <a:xfrm>
            <a:off x="1737360" y="2103120"/>
            <a:ext cx="822960" cy="548640"/>
          </a:xfrm>
          <a:prstGeom prst="roundRect">
            <a:avLst>
              <a:gd name="adj" fmla="val 13333"/>
            </a:avLst>
          </a:prstGeom>
          <a:solidFill>
            <a:srgbClr val="16223A"/>
          </a:solidFill>
          <a:ln w="12700">
            <a:solidFill>
              <a:srgbClr val="2A3A5C"/>
            </a:solidFill>
            <a:prstDash val="solid"/>
          </a:ln>
        </p:spPr>
      </p:sp>
      <p:sp>
        <p:nvSpPr>
          <p:cNvPr id="9" name="Text 6"/>
          <p:cNvSpPr txBox="1"/>
          <p:nvPr/>
        </p:nvSpPr>
        <p:spPr>
          <a:xfrm>
            <a:off x="1737360" y="2103120"/>
            <a:ext cx="822960" cy="548640"/>
          </a:xfrm>
          <a:prstGeom prst="rect">
            <a:avLst/>
          </a:prstGeom>
          <a:noFill/>
          <a:ln/>
        </p:spPr>
        <p:txBody>
          <a:bodyPr wrap="square" lIns="508" tIns="508" rIns="508" bIns="508" rtlCol="0" anchor="ctr"/>
          <a:lstStyle/>
          <a:p>
            <a:pPr algn="ctr" indent="0" marL="0">
              <a:buNone/>
            </a:pPr>
            <a:r>
              <a:rPr lang="en-US" sz="1300" b="1" dirty="0">
                <a:solidFill>
                  <a:srgbClr val="EAF0FA"/>
                </a:solidFill>
                <a:latin typeface="Calibri" pitchFamily="34" charset="0"/>
                <a:ea typeface="Calibri" pitchFamily="34" charset="-122"/>
                <a:cs typeface="Calibri" pitchFamily="34" charset="-120"/>
              </a:rPr>
              <a:t>FFT</a:t>
            </a:r>
            <a:endParaRPr lang="en-US" sz="1300" dirty="0"/>
          </a:p>
        </p:txBody>
      </p:sp>
      <p:sp>
        <p:nvSpPr>
          <p:cNvPr id="10" name="Shape 7"/>
          <p:cNvSpPr/>
          <p:nvPr/>
        </p:nvSpPr>
        <p:spPr>
          <a:xfrm>
            <a:off x="2587752" y="2377440"/>
            <a:ext cx="219456" cy="0"/>
          </a:xfrm>
          <a:prstGeom prst="line">
            <a:avLst/>
          </a:prstGeom>
          <a:noFill/>
          <a:ln w="25400">
            <a:solidFill>
              <a:srgbClr val="8A9BB8"/>
            </a:solidFill>
            <a:prstDash val="solid"/>
            <a:tailEnd type="triangle"/>
          </a:ln>
        </p:spPr>
      </p:sp>
      <p:sp>
        <p:nvSpPr>
          <p:cNvPr id="11" name="Shape 8"/>
          <p:cNvSpPr/>
          <p:nvPr/>
        </p:nvSpPr>
        <p:spPr>
          <a:xfrm>
            <a:off x="2834640" y="2103120"/>
            <a:ext cx="1828800" cy="548640"/>
          </a:xfrm>
          <a:prstGeom prst="roundRect">
            <a:avLst>
              <a:gd name="adj" fmla="val 13333"/>
            </a:avLst>
          </a:prstGeom>
          <a:solidFill>
            <a:srgbClr val="4FD1E8"/>
          </a:solidFill>
          <a:ln w="12700">
            <a:solidFill>
              <a:srgbClr val="4FD1E8"/>
            </a:solidFill>
            <a:prstDash val="solid"/>
          </a:ln>
        </p:spPr>
      </p:sp>
      <p:sp>
        <p:nvSpPr>
          <p:cNvPr id="12" name="Text 9"/>
          <p:cNvSpPr txBox="1"/>
          <p:nvPr/>
        </p:nvSpPr>
        <p:spPr>
          <a:xfrm>
            <a:off x="2834640" y="2103120"/>
            <a:ext cx="1828800" cy="548640"/>
          </a:xfrm>
          <a:prstGeom prst="rect">
            <a:avLst/>
          </a:prstGeom>
          <a:noFill/>
          <a:ln/>
        </p:spPr>
        <p:txBody>
          <a:bodyPr wrap="square" lIns="508" tIns="508" rIns="508" bIns="508" rtlCol="0" anchor="ctr"/>
          <a:lstStyle/>
          <a:p>
            <a:pPr algn="ctr" indent="0" marL="0">
              <a:buNone/>
            </a:pPr>
            <a:r>
              <a:rPr lang="en-US" sz="1300" b="1" dirty="0">
                <a:solidFill>
                  <a:srgbClr val="0B1426"/>
                </a:solidFill>
                <a:latin typeface="Calibri" pitchFamily="34" charset="0"/>
                <a:ea typeface="Calibri" pitchFamily="34" charset="-122"/>
                <a:cs typeface="Calibri" pitchFamily="34" charset="-120"/>
              </a:rPr>
              <a:t>× R  (learned tensor)</a:t>
            </a:r>
            <a:endParaRPr lang="en-US" sz="1300" dirty="0"/>
          </a:p>
        </p:txBody>
      </p:sp>
      <p:sp>
        <p:nvSpPr>
          <p:cNvPr id="13" name="Shape 10"/>
          <p:cNvSpPr/>
          <p:nvPr/>
        </p:nvSpPr>
        <p:spPr>
          <a:xfrm>
            <a:off x="4690872" y="2377440"/>
            <a:ext cx="219456" cy="0"/>
          </a:xfrm>
          <a:prstGeom prst="line">
            <a:avLst/>
          </a:prstGeom>
          <a:noFill/>
          <a:ln w="25400">
            <a:solidFill>
              <a:srgbClr val="8A9BB8"/>
            </a:solidFill>
            <a:prstDash val="solid"/>
            <a:tailEnd type="triangle"/>
          </a:ln>
        </p:spPr>
      </p:sp>
      <p:sp>
        <p:nvSpPr>
          <p:cNvPr id="14" name="Shape 11"/>
          <p:cNvSpPr/>
          <p:nvPr/>
        </p:nvSpPr>
        <p:spPr>
          <a:xfrm>
            <a:off x="4937760" y="2103120"/>
            <a:ext cx="1188720" cy="548640"/>
          </a:xfrm>
          <a:prstGeom prst="roundRect">
            <a:avLst>
              <a:gd name="adj" fmla="val 13333"/>
            </a:avLst>
          </a:prstGeom>
          <a:solidFill>
            <a:srgbClr val="16223A"/>
          </a:solidFill>
          <a:ln w="12700">
            <a:solidFill>
              <a:srgbClr val="2A3A5C"/>
            </a:solidFill>
            <a:prstDash val="solid"/>
          </a:ln>
        </p:spPr>
      </p:sp>
      <p:sp>
        <p:nvSpPr>
          <p:cNvPr id="15" name="Text 12"/>
          <p:cNvSpPr txBox="1"/>
          <p:nvPr/>
        </p:nvSpPr>
        <p:spPr>
          <a:xfrm>
            <a:off x="4937760" y="2103120"/>
            <a:ext cx="1188720" cy="548640"/>
          </a:xfrm>
          <a:prstGeom prst="rect">
            <a:avLst/>
          </a:prstGeom>
          <a:noFill/>
          <a:ln/>
        </p:spPr>
        <p:txBody>
          <a:bodyPr wrap="square" lIns="508" tIns="508" rIns="508" bIns="508" rtlCol="0" anchor="ctr"/>
          <a:lstStyle/>
          <a:p>
            <a:pPr algn="ctr" indent="0" marL="0">
              <a:buNone/>
            </a:pPr>
            <a:r>
              <a:rPr lang="en-US" sz="1300" b="1" dirty="0">
                <a:solidFill>
                  <a:srgbClr val="EAF0FA"/>
                </a:solidFill>
                <a:latin typeface="Calibri" pitchFamily="34" charset="0"/>
                <a:ea typeface="Calibri" pitchFamily="34" charset="-122"/>
                <a:cs typeface="Calibri" pitchFamily="34" charset="-120"/>
              </a:rPr>
              <a:t>inverse FFT</a:t>
            </a:r>
            <a:endParaRPr lang="en-US" sz="1300" dirty="0"/>
          </a:p>
        </p:txBody>
      </p:sp>
      <p:sp>
        <p:nvSpPr>
          <p:cNvPr id="16" name="Shape 13"/>
          <p:cNvSpPr/>
          <p:nvPr/>
        </p:nvSpPr>
        <p:spPr>
          <a:xfrm>
            <a:off x="6153912" y="2377440"/>
            <a:ext cx="219456" cy="0"/>
          </a:xfrm>
          <a:prstGeom prst="line">
            <a:avLst/>
          </a:prstGeom>
          <a:noFill/>
          <a:ln w="25400">
            <a:solidFill>
              <a:srgbClr val="8A9BB8"/>
            </a:solidFill>
            <a:prstDash val="solid"/>
            <a:tailEnd type="triangle"/>
          </a:ln>
        </p:spPr>
      </p:sp>
      <p:sp>
        <p:nvSpPr>
          <p:cNvPr id="17" name="Shape 14"/>
          <p:cNvSpPr/>
          <p:nvPr/>
        </p:nvSpPr>
        <p:spPr>
          <a:xfrm>
            <a:off x="6400800" y="2103120"/>
            <a:ext cx="1005840" cy="548640"/>
          </a:xfrm>
          <a:prstGeom prst="roundRect">
            <a:avLst>
              <a:gd name="adj" fmla="val 13333"/>
            </a:avLst>
          </a:prstGeom>
          <a:solidFill>
            <a:srgbClr val="16223A"/>
          </a:solidFill>
          <a:ln w="12700">
            <a:solidFill>
              <a:srgbClr val="2A3A5C"/>
            </a:solidFill>
            <a:prstDash val="solid"/>
          </a:ln>
        </p:spPr>
      </p:sp>
      <p:sp>
        <p:nvSpPr>
          <p:cNvPr id="18" name="Text 15"/>
          <p:cNvSpPr txBox="1"/>
          <p:nvPr/>
        </p:nvSpPr>
        <p:spPr>
          <a:xfrm>
            <a:off x="6400800" y="2103120"/>
            <a:ext cx="1005840" cy="548640"/>
          </a:xfrm>
          <a:prstGeom prst="rect">
            <a:avLst/>
          </a:prstGeom>
          <a:noFill/>
          <a:ln/>
        </p:spPr>
        <p:txBody>
          <a:bodyPr wrap="square" lIns="508" tIns="508" rIns="508" bIns="508" rtlCol="0" anchor="ctr"/>
          <a:lstStyle/>
          <a:p>
            <a:pPr algn="ctr" indent="0" marL="0">
              <a:buNone/>
            </a:pPr>
            <a:r>
              <a:rPr lang="en-US" sz="1300" b="1" dirty="0">
                <a:solidFill>
                  <a:srgbClr val="EAF0FA"/>
                </a:solidFill>
                <a:latin typeface="Calibri" pitchFamily="34" charset="0"/>
                <a:ea typeface="Calibri" pitchFamily="34" charset="-122"/>
                <a:cs typeface="Calibri" pitchFamily="34" charset="-120"/>
              </a:rPr>
              <a:t>u(x, T)</a:t>
            </a:r>
            <a:endParaRPr lang="en-US" sz="1300" dirty="0"/>
          </a:p>
        </p:txBody>
      </p:sp>
      <p:pic>
        <p:nvPicPr>
          <p:cNvPr id="19" name="Image 1" descr="assets/eq_burgers.png">    </p:cNvPr>
          <p:cNvPicPr>
            <a:picLocks noChangeAspect="1"/>
          </p:cNvPicPr>
          <p:nvPr/>
        </p:nvPicPr>
        <p:blipFill>
          <a:blip r:embed="rId2"/>
          <a:stretch>
            <a:fillRect/>
          </a:stretch>
        </p:blipFill>
        <p:spPr>
          <a:xfrm>
            <a:off x="457200" y="3017520"/>
            <a:ext cx="1724015" cy="292608"/>
          </a:xfrm>
          <a:prstGeom prst="rect">
            <a:avLst/>
          </a:prstGeom>
        </p:spPr>
      </p:pic>
      <p:sp>
        <p:nvSpPr>
          <p:cNvPr id="20" name="Text 16"/>
          <p:cNvSpPr txBox="1"/>
          <p:nvPr/>
        </p:nvSpPr>
        <p:spPr>
          <a:xfrm>
            <a:off x="457200" y="3401568"/>
            <a:ext cx="384048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Burgers equation: a 1-D cousin of Navier–Stokes</a:t>
            </a:r>
            <a:endParaRPr lang="en-US" sz="1200" dirty="0"/>
          </a:p>
        </p:txBody>
      </p:sp>
      <p:sp>
        <p:nvSpPr>
          <p:cNvPr id="21" name="Text 17"/>
          <p:cNvSpPr txBox="1"/>
          <p:nvPr/>
        </p:nvSpPr>
        <p:spPr>
          <a:xfrm>
            <a:off x="457200" y="3840480"/>
            <a:ext cx="4206240" cy="457200"/>
          </a:xfrm>
          <a:prstGeom prst="rect">
            <a:avLst/>
          </a:prstGeom>
          <a:noFill/>
          <a:ln/>
        </p:spPr>
        <p:txBody>
          <a:bodyPr wrap="square" lIns="0" tIns="0" rIns="0" bIns="0" rtlCol="0" anchor="t"/>
          <a:lstStyle/>
          <a:p>
            <a:pPr indent="0" marL="0">
              <a:buNone/>
            </a:pPr>
            <a:r>
              <a:rPr lang="en-US" sz="1700" b="1" i="1" dirty="0">
                <a:solidFill>
                  <a:srgbClr val="F5A524"/>
                </a:solidFill>
                <a:latin typeface="Calibri" pitchFamily="34" charset="0"/>
                <a:ea typeface="Calibri" pitchFamily="34" charset="-122"/>
                <a:cs typeface="Calibri" pitchFamily="34" charset="-120"/>
              </a:rPr>
              <a:t>Train once, then predict in milliseconds.</a:t>
            </a:r>
            <a:endParaRPr lang="en-US" sz="1700" dirty="0"/>
          </a:p>
        </p:txBody>
      </p:sp>
      <p:pic>
        <p:nvPicPr>
          <p:cNvPr id="22" name="Image 2" descr="assets/burgers.png">    </p:cNvPr>
          <p:cNvPicPr>
            <a:picLocks noChangeAspect="1"/>
          </p:cNvPicPr>
          <p:nvPr/>
        </p:nvPicPr>
        <p:blipFill>
          <a:blip r:embed="rId3"/>
          <a:stretch>
            <a:fillRect/>
          </a:stretch>
        </p:blipFill>
        <p:spPr>
          <a:xfrm>
            <a:off x="5120640" y="2788920"/>
            <a:ext cx="2973112" cy="1691640"/>
          </a:xfrm>
          <a:prstGeom prst="rect">
            <a:avLst/>
          </a:prstGeom>
        </p:spPr>
      </p:pic>
      <p:sp>
        <p:nvSpPr>
          <p:cNvPr id="23" name="Shape 18"/>
          <p:cNvSpPr/>
          <p:nvPr/>
        </p:nvSpPr>
        <p:spPr>
          <a:xfrm>
            <a:off x="457200" y="4572000"/>
            <a:ext cx="2743200" cy="347472"/>
          </a:xfrm>
          <a:prstGeom prst="roundRect">
            <a:avLst>
              <a:gd name="adj" fmla="val 50000"/>
            </a:avLst>
          </a:prstGeom>
          <a:solidFill>
            <a:srgbClr val="F5A524"/>
          </a:solidFill>
          <a:ln w="12700">
            <a:solidFill>
              <a:srgbClr val="F5A524"/>
            </a:solidFill>
            <a:prstDash val="solid"/>
          </a:ln>
        </p:spPr>
      </p:sp>
      <p:sp>
        <p:nvSpPr>
          <p:cNvPr id="24" name="Text 19"/>
          <p:cNvSpPr txBox="1"/>
          <p:nvPr/>
        </p:nvSpPr>
        <p:spPr>
          <a:xfrm>
            <a:off x="457200" y="4572000"/>
            <a:ext cx="2743200" cy="347472"/>
          </a:xfrm>
          <a:prstGeom prst="rect">
            <a:avLst/>
          </a:prstGeom>
          <a:noFill/>
          <a:ln/>
        </p:spPr>
        <p:txBody>
          <a:bodyPr wrap="square" lIns="0" tIns="0" rIns="0" bIns="0" rtlCol="0" anchor="ctr"/>
          <a:lstStyle/>
          <a:p>
            <a:pPr algn="ctr" indent="0" marL="0">
              <a:buNone/>
            </a:pPr>
            <a:r>
              <a:rPr lang="en-US" sz="1100" b="1" dirty="0">
                <a:solidFill>
                  <a:srgbClr val="0B1426"/>
                </a:solidFill>
                <a:latin typeface="Calibri" pitchFamily="34" charset="0"/>
                <a:ea typeface="Calibri" pitchFamily="34" charset="-122"/>
                <a:cs typeface="Calibri" pitchFamily="34" charset="-120"/>
              </a:rPr>
              <a:t>▶  LIVE DEMO  ·  2  Fourier Neural Operator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4 · WORLD MODELS</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EAF0FA"/>
                </a:solidFill>
                <a:latin typeface="Cambria" pitchFamily="34" charset="0"/>
                <a:ea typeface="Cambria" pitchFamily="34" charset="-122"/>
                <a:cs typeface="Cambria" pitchFamily="34" charset="-120"/>
              </a:rPr>
              <a:t>Back to the child catching the ball</a:t>
            </a:r>
            <a:endParaRPr lang="en-US" sz="3000" dirty="0"/>
          </a:p>
        </p:txBody>
      </p:sp>
      <p:pic>
        <p:nvPicPr>
          <p:cNvPr id="4" name="Image 0" descr="assets/throw_question.png">    </p:cNvPr>
          <p:cNvPicPr>
            <a:picLocks noChangeAspect="1"/>
          </p:cNvPicPr>
          <p:nvPr/>
        </p:nvPicPr>
        <p:blipFill>
          <a:blip r:embed="rId1"/>
          <a:stretch>
            <a:fillRect/>
          </a:stretch>
        </p:blipFill>
        <p:spPr>
          <a:xfrm>
            <a:off x="457200" y="1371600"/>
            <a:ext cx="4572000" cy="2502820"/>
          </a:xfrm>
          <a:prstGeom prst="rect">
            <a:avLst/>
          </a:prstGeom>
        </p:spPr>
      </p:pic>
      <p:sp>
        <p:nvSpPr>
          <p:cNvPr id="5" name="Text 2"/>
          <p:cNvSpPr txBox="1"/>
          <p:nvPr/>
        </p:nvSpPr>
        <p:spPr>
          <a:xfrm>
            <a:off x="5394960" y="1645920"/>
            <a:ext cx="3383280" cy="1188720"/>
          </a:xfrm>
          <a:prstGeom prst="rect">
            <a:avLst/>
          </a:prstGeom>
          <a:noFill/>
          <a:ln/>
        </p:spPr>
        <p:txBody>
          <a:bodyPr wrap="square" lIns="0" tIns="0" rIns="0" bIns="0" rtlCol="0" anchor="t"/>
          <a:lstStyle/>
          <a:p>
            <a:pPr indent="0" marL="0">
              <a:buNone/>
            </a:pPr>
            <a:r>
              <a:rPr lang="en-US" sz="2400" b="1" dirty="0">
                <a:solidFill>
                  <a:srgbClr val="F5A524"/>
                </a:solidFill>
                <a:latin typeface="Cambria" pitchFamily="34" charset="0"/>
                <a:ea typeface="Cambria" pitchFamily="34" charset="-122"/>
                <a:cs typeface="Cambria" pitchFamily="34" charset="-120"/>
              </a:rPr>
              <a:t>No equations.</a:t>
            </a:r>
            <a:endParaRPr lang="en-US" sz="2400" dirty="0"/>
          </a:p>
          <a:p>
            <a:pPr indent="0" marL="0">
              <a:buNone/>
            </a:pPr>
            <a:r>
              <a:rPr lang="en-US" sz="2400" b="1" dirty="0">
                <a:solidFill>
                  <a:srgbClr val="F5A524"/>
                </a:solidFill>
                <a:latin typeface="Cambria" pitchFamily="34" charset="0"/>
                <a:ea typeface="Cambria" pitchFamily="34" charset="-122"/>
                <a:cs typeface="Cambria" pitchFamily="34" charset="-120"/>
              </a:rPr>
              <a:t>Just millions of observations.</a:t>
            </a:r>
            <a:endParaRPr lang="en-US" sz="2400" dirty="0"/>
          </a:p>
        </p:txBody>
      </p:sp>
      <p:sp>
        <p:nvSpPr>
          <p:cNvPr id="6" name="Text 3"/>
          <p:cNvSpPr txBox="1"/>
          <p:nvPr/>
        </p:nvSpPr>
        <p:spPr>
          <a:xfrm>
            <a:off x="5394960" y="3017520"/>
            <a:ext cx="3291840" cy="1097280"/>
          </a:xfrm>
          <a:prstGeom prst="rect">
            <a:avLst/>
          </a:prstGeom>
          <a:noFill/>
          <a:ln/>
        </p:spPr>
        <p:txBody>
          <a:bodyPr wrap="square" lIns="0" tIns="0" rIns="0" bIns="0" rtlCol="0" anchor="t"/>
          <a:lstStyle/>
          <a:p>
            <a:pPr indent="0" marL="0">
              <a:buNone/>
            </a:pPr>
            <a:r>
              <a:rPr lang="en-US" sz="1600" dirty="0">
                <a:solidFill>
                  <a:srgbClr val="EAF0FA"/>
                </a:solidFill>
                <a:latin typeface="Calibri" pitchFamily="34" charset="0"/>
                <a:ea typeface="Calibri" pitchFamily="34" charset="-122"/>
                <a:cs typeface="Calibri" pitchFamily="34" charset="-120"/>
              </a:rPr>
              <a:t>Can a machine learn physics just by watching video, the way a child does?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4 · WORLD MODELS  ·  META V-JEPA 2 (2025)</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How a world model learns</a:t>
            </a:r>
            <a:endParaRPr lang="en-US" sz="3000" dirty="0"/>
          </a:p>
        </p:txBody>
      </p:sp>
      <p:pic>
        <p:nvPicPr>
          <p:cNvPr id="4" name="Image 0" descr="assets/film_patches.png">    </p:cNvPr>
          <p:cNvPicPr>
            <a:picLocks noChangeAspect="1"/>
          </p:cNvPicPr>
          <p:nvPr/>
        </p:nvPicPr>
        <p:blipFill>
          <a:blip r:embed="rId1"/>
          <a:stretch>
            <a:fillRect/>
          </a:stretch>
        </p:blipFill>
        <p:spPr>
          <a:xfrm>
            <a:off x="457200" y="1325880"/>
            <a:ext cx="3931920" cy="987235"/>
          </a:xfrm>
          <a:prstGeom prst="rect">
            <a:avLst/>
          </a:prstGeom>
        </p:spPr>
      </p:pic>
      <p:sp>
        <p:nvSpPr>
          <p:cNvPr id="5" name="Text 2"/>
          <p:cNvSpPr txBox="1"/>
          <p:nvPr/>
        </p:nvSpPr>
        <p:spPr>
          <a:xfrm>
            <a:off x="457200" y="2377440"/>
            <a:ext cx="393192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video → 16 × 16-pixel patches</a:t>
            </a:r>
            <a:endParaRPr lang="en-US" sz="1200" dirty="0"/>
          </a:p>
        </p:txBody>
      </p:sp>
      <p:sp>
        <p:nvSpPr>
          <p:cNvPr id="6" name="Shape 3"/>
          <p:cNvSpPr/>
          <p:nvPr/>
        </p:nvSpPr>
        <p:spPr>
          <a:xfrm>
            <a:off x="4480560" y="1810512"/>
            <a:ext cx="274320" cy="0"/>
          </a:xfrm>
          <a:prstGeom prst="line">
            <a:avLst/>
          </a:prstGeom>
          <a:noFill/>
          <a:ln w="25400">
            <a:solidFill>
              <a:srgbClr val="8A9BB8"/>
            </a:solidFill>
            <a:prstDash val="solid"/>
            <a:tailEnd type="triangle"/>
          </a:ln>
        </p:spPr>
      </p:sp>
      <p:sp>
        <p:nvSpPr>
          <p:cNvPr id="7" name="Shape 4"/>
          <p:cNvSpPr/>
          <p:nvPr/>
        </p:nvSpPr>
        <p:spPr>
          <a:xfrm>
            <a:off x="4800600" y="1417320"/>
            <a:ext cx="1463040" cy="777240"/>
          </a:xfrm>
          <a:prstGeom prst="roundRect">
            <a:avLst>
              <a:gd name="adj" fmla="val 9412"/>
            </a:avLst>
          </a:prstGeom>
          <a:solidFill>
            <a:srgbClr val="4FD1E8"/>
          </a:solidFill>
          <a:ln w="12700">
            <a:solidFill>
              <a:srgbClr val="4FD1E8"/>
            </a:solidFill>
            <a:prstDash val="solid"/>
          </a:ln>
        </p:spPr>
      </p:sp>
      <p:sp>
        <p:nvSpPr>
          <p:cNvPr id="8" name="Text 5"/>
          <p:cNvSpPr txBox="1"/>
          <p:nvPr/>
        </p:nvSpPr>
        <p:spPr>
          <a:xfrm>
            <a:off x="4800600" y="1417320"/>
            <a:ext cx="1463040" cy="777240"/>
          </a:xfrm>
          <a:prstGeom prst="rect">
            <a:avLst/>
          </a:prstGeom>
          <a:noFill/>
          <a:ln/>
        </p:spPr>
        <p:txBody>
          <a:bodyPr wrap="square" lIns="508" tIns="508" rIns="508" bIns="508" rtlCol="0" anchor="ctr"/>
          <a:lstStyle/>
          <a:p>
            <a:pPr algn="ctr" indent="0" marL="0">
              <a:buNone/>
            </a:pPr>
            <a:r>
              <a:rPr lang="en-US" sz="1200" b="1" dirty="0">
                <a:solidFill>
                  <a:srgbClr val="0B1426"/>
                </a:solidFill>
                <a:latin typeface="Calibri" pitchFamily="34" charset="0"/>
                <a:ea typeface="Calibri" pitchFamily="34" charset="-122"/>
                <a:cs typeface="Calibri" pitchFamily="34" charset="-120"/>
              </a:rPr>
              <a:t>Encoder</a:t>
            </a:r>
            <a:endParaRPr lang="en-US" sz="1200" dirty="0"/>
          </a:p>
          <a:p>
            <a:pPr algn="ctr" indent="0" marL="0">
              <a:buNone/>
            </a:pPr>
            <a:r>
              <a:rPr lang="en-US" sz="1200" b="1" dirty="0">
                <a:solidFill>
                  <a:srgbClr val="0B1426"/>
                </a:solidFill>
                <a:latin typeface="Calibri" pitchFamily="34" charset="0"/>
                <a:ea typeface="Calibri" pitchFamily="34" charset="-122"/>
                <a:cs typeface="Calibri" pitchFamily="34" charset="-120"/>
              </a:rPr>
              <a:t>(sees the past)</a:t>
            </a:r>
            <a:endParaRPr lang="en-US" sz="1200" dirty="0"/>
          </a:p>
        </p:txBody>
      </p:sp>
      <p:sp>
        <p:nvSpPr>
          <p:cNvPr id="9" name="Shape 6"/>
          <p:cNvSpPr/>
          <p:nvPr/>
        </p:nvSpPr>
        <p:spPr>
          <a:xfrm>
            <a:off x="6309360" y="1810512"/>
            <a:ext cx="274320" cy="0"/>
          </a:xfrm>
          <a:prstGeom prst="line">
            <a:avLst/>
          </a:prstGeom>
          <a:noFill/>
          <a:ln w="25400">
            <a:solidFill>
              <a:srgbClr val="8A9BB8"/>
            </a:solidFill>
            <a:prstDash val="solid"/>
            <a:tailEnd type="triangle"/>
          </a:ln>
        </p:spPr>
      </p:sp>
      <p:sp>
        <p:nvSpPr>
          <p:cNvPr id="10" name="Shape 7"/>
          <p:cNvSpPr/>
          <p:nvPr/>
        </p:nvSpPr>
        <p:spPr>
          <a:xfrm>
            <a:off x="6629400" y="1417320"/>
            <a:ext cx="2057400" cy="777240"/>
          </a:xfrm>
          <a:prstGeom prst="roundRect">
            <a:avLst>
              <a:gd name="adj" fmla="val 9412"/>
            </a:avLst>
          </a:prstGeom>
          <a:solidFill>
            <a:srgbClr val="F5A524"/>
          </a:solidFill>
          <a:ln w="12700">
            <a:solidFill>
              <a:srgbClr val="F5A524"/>
            </a:solidFill>
            <a:prstDash val="solid"/>
          </a:ln>
        </p:spPr>
      </p:sp>
      <p:sp>
        <p:nvSpPr>
          <p:cNvPr id="11" name="Text 8"/>
          <p:cNvSpPr txBox="1"/>
          <p:nvPr/>
        </p:nvSpPr>
        <p:spPr>
          <a:xfrm>
            <a:off x="6629400" y="1417320"/>
            <a:ext cx="2057400" cy="777240"/>
          </a:xfrm>
          <a:prstGeom prst="rect">
            <a:avLst/>
          </a:prstGeom>
          <a:noFill/>
          <a:ln/>
        </p:spPr>
        <p:txBody>
          <a:bodyPr wrap="square" lIns="508" tIns="508" rIns="508" bIns="508" rtlCol="0" anchor="ctr"/>
          <a:lstStyle/>
          <a:p>
            <a:pPr algn="ctr" indent="0" marL="0">
              <a:buNone/>
            </a:pPr>
            <a:r>
              <a:rPr lang="en-US" sz="1200" b="1" dirty="0">
                <a:solidFill>
                  <a:srgbClr val="0B1426"/>
                </a:solidFill>
                <a:latin typeface="Calibri" pitchFamily="34" charset="0"/>
                <a:ea typeface="Calibri" pitchFamily="34" charset="-122"/>
                <a:cs typeface="Calibri" pitchFamily="34" charset="-120"/>
              </a:rPr>
              <a:t>Predictor</a:t>
            </a:r>
            <a:endParaRPr lang="en-US" sz="1200" dirty="0"/>
          </a:p>
          <a:p>
            <a:pPr algn="ctr" indent="0" marL="0">
              <a:buNone/>
            </a:pPr>
            <a:r>
              <a:rPr lang="en-US" sz="1200" b="1" dirty="0">
                <a:solidFill>
                  <a:srgbClr val="0B1426"/>
                </a:solidFill>
                <a:latin typeface="Calibri" pitchFamily="34" charset="0"/>
                <a:ea typeface="Calibri" pitchFamily="34" charset="-122"/>
                <a:cs typeface="Calibri" pitchFamily="34" charset="-120"/>
              </a:rPr>
              <a:t>(imagines the future)</a:t>
            </a:r>
            <a:endParaRPr lang="en-US" sz="1200" dirty="0"/>
          </a:p>
        </p:txBody>
      </p:sp>
      <p:sp>
        <p:nvSpPr>
          <p:cNvPr id="12" name="Text 9"/>
          <p:cNvSpPr txBox="1"/>
          <p:nvPr/>
        </p:nvSpPr>
        <p:spPr>
          <a:xfrm>
            <a:off x="4800600" y="2331720"/>
            <a:ext cx="3931920" cy="365760"/>
          </a:xfrm>
          <a:prstGeom prst="rect">
            <a:avLst/>
          </a:prstGeom>
          <a:noFill/>
          <a:ln/>
        </p:spPr>
        <p:txBody>
          <a:bodyPr wrap="square" lIns="0" tIns="0" rIns="0" bIns="0" rtlCol="0" anchor="t"/>
          <a:lstStyle/>
          <a:p>
            <a:pPr indent="0" marL="0">
              <a:buNone/>
            </a:pPr>
            <a:r>
              <a:rPr lang="en-US" sz="1400" i="1" dirty="0">
                <a:solidFill>
                  <a:srgbClr val="F5A524"/>
                </a:solidFill>
                <a:latin typeface="Calibri" pitchFamily="34" charset="0"/>
                <a:ea typeface="Calibri" pitchFamily="34" charset="-122"/>
                <a:cs typeface="Calibri" pitchFamily="34" charset="-120"/>
              </a:rPr>
              <a:t>Hide the future. Predict its meaning, not its pixels.</a:t>
            </a:r>
            <a:endParaRPr lang="en-US" sz="1400" dirty="0"/>
          </a:p>
        </p:txBody>
      </p:sp>
      <p:sp>
        <p:nvSpPr>
          <p:cNvPr id="13" name="Text 10"/>
          <p:cNvSpPr txBox="1"/>
          <p:nvPr/>
        </p:nvSpPr>
        <p:spPr>
          <a:xfrm>
            <a:off x="457200" y="2971800"/>
            <a:ext cx="1920240" cy="548640"/>
          </a:xfrm>
          <a:prstGeom prst="rect">
            <a:avLst/>
          </a:prstGeom>
          <a:noFill/>
          <a:ln/>
        </p:spPr>
        <p:txBody>
          <a:bodyPr wrap="square" lIns="0" tIns="0" rIns="0" bIns="0" rtlCol="0" anchor="t"/>
          <a:lstStyle/>
          <a:p>
            <a:pPr indent="0" marL="0">
              <a:buNone/>
            </a:pPr>
            <a:r>
              <a:rPr lang="en-US" sz="3000" b="1" dirty="0">
                <a:solidFill>
                  <a:srgbClr val="4FD1E8"/>
                </a:solidFill>
                <a:latin typeface="Cambria" pitchFamily="34" charset="0"/>
                <a:ea typeface="Cambria" pitchFamily="34" charset="-122"/>
                <a:cs typeface="Cambria" pitchFamily="34" charset="-120"/>
              </a:rPr>
              <a:t>16</a:t>
            </a:r>
            <a:endParaRPr lang="en-US" sz="3000" dirty="0"/>
          </a:p>
        </p:txBody>
      </p:sp>
      <p:sp>
        <p:nvSpPr>
          <p:cNvPr id="14" name="Text 11"/>
          <p:cNvSpPr txBox="1"/>
          <p:nvPr/>
        </p:nvSpPr>
        <p:spPr>
          <a:xfrm>
            <a:off x="457200" y="3520440"/>
            <a:ext cx="192024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frames</a:t>
            </a:r>
            <a:endParaRPr lang="en-US" sz="1200" dirty="0"/>
          </a:p>
        </p:txBody>
      </p:sp>
      <p:sp>
        <p:nvSpPr>
          <p:cNvPr id="15" name="Text 12"/>
          <p:cNvSpPr txBox="1"/>
          <p:nvPr/>
        </p:nvSpPr>
        <p:spPr>
          <a:xfrm>
            <a:off x="2560320" y="2971800"/>
            <a:ext cx="1920240" cy="548640"/>
          </a:xfrm>
          <a:prstGeom prst="rect">
            <a:avLst/>
          </a:prstGeom>
          <a:noFill/>
          <a:ln/>
        </p:spPr>
        <p:txBody>
          <a:bodyPr wrap="square" lIns="0" tIns="0" rIns="0" bIns="0" rtlCol="0" anchor="t"/>
          <a:lstStyle/>
          <a:p>
            <a:pPr indent="0" marL="0">
              <a:buNone/>
            </a:pPr>
            <a:r>
              <a:rPr lang="en-US" sz="3000" b="1" dirty="0">
                <a:solidFill>
                  <a:srgbClr val="4FD1E8"/>
                </a:solidFill>
                <a:latin typeface="Cambria" pitchFamily="34" charset="0"/>
                <a:ea typeface="Cambria" pitchFamily="34" charset="-122"/>
                <a:cs typeface="Cambria" pitchFamily="34" charset="-120"/>
              </a:rPr>
              <a:t>2,048</a:t>
            </a:r>
            <a:endParaRPr lang="en-US" sz="3000" dirty="0"/>
          </a:p>
        </p:txBody>
      </p:sp>
      <p:sp>
        <p:nvSpPr>
          <p:cNvPr id="16" name="Text 13"/>
          <p:cNvSpPr txBox="1"/>
          <p:nvPr/>
        </p:nvSpPr>
        <p:spPr>
          <a:xfrm>
            <a:off x="2560320" y="3520440"/>
            <a:ext cx="192024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tokens</a:t>
            </a:r>
            <a:endParaRPr lang="en-US" sz="1200" dirty="0"/>
          </a:p>
        </p:txBody>
      </p:sp>
      <p:sp>
        <p:nvSpPr>
          <p:cNvPr id="17" name="Text 14"/>
          <p:cNvSpPr txBox="1"/>
          <p:nvPr/>
        </p:nvSpPr>
        <p:spPr>
          <a:xfrm>
            <a:off x="4663440" y="2971800"/>
            <a:ext cx="1920240" cy="548640"/>
          </a:xfrm>
          <a:prstGeom prst="rect">
            <a:avLst/>
          </a:prstGeom>
          <a:noFill/>
          <a:ln/>
        </p:spPr>
        <p:txBody>
          <a:bodyPr wrap="square" lIns="0" tIns="0" rIns="0" bIns="0" rtlCol="0" anchor="t"/>
          <a:lstStyle/>
          <a:p>
            <a:pPr indent="0" marL="0">
              <a:buNone/>
            </a:pPr>
            <a:r>
              <a:rPr lang="en-US" sz="3000" b="1" dirty="0">
                <a:solidFill>
                  <a:srgbClr val="4FD1E8"/>
                </a:solidFill>
                <a:latin typeface="Cambria" pitchFamily="34" charset="0"/>
                <a:ea typeface="Cambria" pitchFamily="34" charset="-122"/>
                <a:cs typeface="Cambria" pitchFamily="34" charset="-120"/>
              </a:rPr>
              <a:t>1,024</a:t>
            </a:r>
            <a:endParaRPr lang="en-US" sz="3000" dirty="0"/>
          </a:p>
        </p:txBody>
      </p:sp>
      <p:sp>
        <p:nvSpPr>
          <p:cNvPr id="18" name="Text 15"/>
          <p:cNvSpPr txBox="1"/>
          <p:nvPr/>
        </p:nvSpPr>
        <p:spPr>
          <a:xfrm>
            <a:off x="4663440" y="3520440"/>
            <a:ext cx="192024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numbers per token</a:t>
            </a:r>
            <a:endParaRPr lang="en-US" sz="1200" dirty="0"/>
          </a:p>
        </p:txBody>
      </p:sp>
      <p:sp>
        <p:nvSpPr>
          <p:cNvPr id="19" name="Text 16"/>
          <p:cNvSpPr txBox="1"/>
          <p:nvPr/>
        </p:nvSpPr>
        <p:spPr>
          <a:xfrm>
            <a:off x="6766560" y="2971800"/>
            <a:ext cx="1920240" cy="548640"/>
          </a:xfrm>
          <a:prstGeom prst="rect">
            <a:avLst/>
          </a:prstGeom>
          <a:noFill/>
          <a:ln/>
        </p:spPr>
        <p:txBody>
          <a:bodyPr wrap="square" lIns="0" tIns="0" rIns="0" bIns="0" rtlCol="0" anchor="t"/>
          <a:lstStyle/>
          <a:p>
            <a:pPr indent="0" marL="0">
              <a:buNone/>
            </a:pPr>
            <a:r>
              <a:rPr lang="en-US" sz="3000" b="1" dirty="0">
                <a:solidFill>
                  <a:srgbClr val="4FD1E8"/>
                </a:solidFill>
                <a:latin typeface="Cambria" pitchFamily="34" charset="0"/>
                <a:ea typeface="Cambria" pitchFamily="34" charset="-122"/>
                <a:cs typeface="Cambria" pitchFamily="34" charset="-120"/>
              </a:rPr>
              <a:t>300 M</a:t>
            </a:r>
            <a:endParaRPr lang="en-US" sz="3000" dirty="0"/>
          </a:p>
        </p:txBody>
      </p:sp>
      <p:sp>
        <p:nvSpPr>
          <p:cNvPr id="20" name="Text 17"/>
          <p:cNvSpPr txBox="1"/>
          <p:nvPr/>
        </p:nvSpPr>
        <p:spPr>
          <a:xfrm>
            <a:off x="6766560" y="3520440"/>
            <a:ext cx="192024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parameters</a:t>
            </a:r>
            <a:endParaRPr lang="en-US" sz="1200" dirty="0"/>
          </a:p>
        </p:txBody>
      </p:sp>
      <p:pic>
        <p:nvPicPr>
          <p:cNvPr id="21" name="Image 1" descr="assets/eq_jepa.png">    </p:cNvPr>
          <p:cNvPicPr>
            <a:picLocks noChangeAspect="1"/>
          </p:cNvPicPr>
          <p:nvPr/>
        </p:nvPicPr>
        <p:blipFill>
          <a:blip r:embed="rId2"/>
          <a:stretch>
            <a:fillRect/>
          </a:stretch>
        </p:blipFill>
        <p:spPr>
          <a:xfrm>
            <a:off x="457200" y="4069080"/>
            <a:ext cx="3828618" cy="3291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PART 4 · WORLD MODELS</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Testing its intuition: surprise</a:t>
            </a:r>
            <a:endParaRPr lang="en-US" sz="3000" dirty="0"/>
          </a:p>
        </p:txBody>
      </p:sp>
      <p:sp>
        <p:nvSpPr>
          <p:cNvPr id="4" name="Text 2"/>
          <p:cNvSpPr txBox="1"/>
          <p:nvPr/>
        </p:nvSpPr>
        <p:spPr>
          <a:xfrm>
            <a:off x="457200" y="1463040"/>
            <a:ext cx="1097280" cy="274320"/>
          </a:xfrm>
          <a:prstGeom prst="rect">
            <a:avLst/>
          </a:prstGeom>
          <a:noFill/>
          <a:ln/>
        </p:spPr>
        <p:txBody>
          <a:bodyPr wrap="square" lIns="0" tIns="0" rIns="0" bIns="0" rtlCol="0" anchor="t"/>
          <a:lstStyle/>
          <a:p>
            <a:pPr indent="0" marL="0">
              <a:buNone/>
            </a:pPr>
            <a:r>
              <a:rPr lang="en-US" sz="1300" b="1" dirty="0">
                <a:solidFill>
                  <a:srgbClr val="56C271"/>
                </a:solidFill>
                <a:latin typeface="Calibri" pitchFamily="34" charset="0"/>
                <a:ea typeface="Calibri" pitchFamily="34" charset="-122"/>
                <a:cs typeface="Calibri" pitchFamily="34" charset="-120"/>
              </a:rPr>
              <a:t>Normal</a:t>
            </a:r>
            <a:endParaRPr lang="en-US" sz="1300" dirty="0"/>
          </a:p>
        </p:txBody>
      </p:sp>
      <p:pic>
        <p:nvPicPr>
          <p:cNvPr id="5" name="Image 0" descr="assets/film_normal.png">    </p:cNvPr>
          <p:cNvPicPr>
            <a:picLocks noChangeAspect="1"/>
          </p:cNvPicPr>
          <p:nvPr/>
        </p:nvPicPr>
        <p:blipFill>
          <a:blip r:embed="rId1"/>
          <a:stretch>
            <a:fillRect/>
          </a:stretch>
        </p:blipFill>
        <p:spPr>
          <a:xfrm>
            <a:off x="1554480" y="1280160"/>
            <a:ext cx="3899274" cy="658368"/>
          </a:xfrm>
          <a:prstGeom prst="rect">
            <a:avLst/>
          </a:prstGeom>
        </p:spPr>
      </p:pic>
      <p:sp>
        <p:nvSpPr>
          <p:cNvPr id="6" name="Text 3"/>
          <p:cNvSpPr txBox="1"/>
          <p:nvPr/>
        </p:nvSpPr>
        <p:spPr>
          <a:xfrm>
            <a:off x="457200" y="2221992"/>
            <a:ext cx="1097280" cy="274320"/>
          </a:xfrm>
          <a:prstGeom prst="rect">
            <a:avLst/>
          </a:prstGeom>
          <a:noFill/>
          <a:ln/>
        </p:spPr>
        <p:txBody>
          <a:bodyPr wrap="square" lIns="0" tIns="0" rIns="0" bIns="0" rtlCol="0" anchor="t"/>
          <a:lstStyle/>
          <a:p>
            <a:pPr indent="0" marL="0">
              <a:buNone/>
            </a:pPr>
            <a:r>
              <a:rPr lang="en-US" sz="1300" b="1" dirty="0">
                <a:solidFill>
                  <a:srgbClr val="E5484D"/>
                </a:solidFill>
                <a:latin typeface="Calibri" pitchFamily="34" charset="0"/>
                <a:ea typeface="Calibri" pitchFamily="34" charset="-122"/>
                <a:cs typeface="Calibri" pitchFamily="34" charset="-120"/>
              </a:rPr>
              <a:t>Teleports</a:t>
            </a:r>
            <a:endParaRPr lang="en-US" sz="1300" dirty="0"/>
          </a:p>
        </p:txBody>
      </p:sp>
      <p:pic>
        <p:nvPicPr>
          <p:cNvPr id="7" name="Image 1" descr="assets/film_teleports.png">    </p:cNvPr>
          <p:cNvPicPr>
            <a:picLocks noChangeAspect="1"/>
          </p:cNvPicPr>
          <p:nvPr/>
        </p:nvPicPr>
        <p:blipFill>
          <a:blip r:embed="rId2"/>
          <a:stretch>
            <a:fillRect/>
          </a:stretch>
        </p:blipFill>
        <p:spPr>
          <a:xfrm>
            <a:off x="1554480" y="2039112"/>
            <a:ext cx="3899274" cy="658368"/>
          </a:xfrm>
          <a:prstGeom prst="rect">
            <a:avLst/>
          </a:prstGeom>
        </p:spPr>
      </p:pic>
      <p:sp>
        <p:nvSpPr>
          <p:cNvPr id="8" name="Text 4"/>
          <p:cNvSpPr txBox="1"/>
          <p:nvPr/>
        </p:nvSpPr>
        <p:spPr>
          <a:xfrm>
            <a:off x="457200" y="2980944"/>
            <a:ext cx="1097280" cy="274320"/>
          </a:xfrm>
          <a:prstGeom prst="rect">
            <a:avLst/>
          </a:prstGeom>
          <a:noFill/>
          <a:ln/>
        </p:spPr>
        <p:txBody>
          <a:bodyPr wrap="square" lIns="0" tIns="0" rIns="0" bIns="0" rtlCol="0" anchor="t"/>
          <a:lstStyle/>
          <a:p>
            <a:pPr indent="0" marL="0">
              <a:buNone/>
            </a:pPr>
            <a:r>
              <a:rPr lang="en-US" sz="1300" b="1" dirty="0">
                <a:solidFill>
                  <a:srgbClr val="E5484D"/>
                </a:solidFill>
                <a:latin typeface="Calibri" pitchFamily="34" charset="0"/>
                <a:ea typeface="Calibri" pitchFamily="34" charset="-122"/>
                <a:cs typeface="Calibri" pitchFamily="34" charset="-120"/>
              </a:rPr>
              <a:t>Vanishes</a:t>
            </a:r>
            <a:endParaRPr lang="en-US" sz="1300" dirty="0"/>
          </a:p>
        </p:txBody>
      </p:sp>
      <p:pic>
        <p:nvPicPr>
          <p:cNvPr id="9" name="Image 2" descr="assets/film_vanishes.png">    </p:cNvPr>
          <p:cNvPicPr>
            <a:picLocks noChangeAspect="1"/>
          </p:cNvPicPr>
          <p:nvPr/>
        </p:nvPicPr>
        <p:blipFill>
          <a:blip r:embed="rId3"/>
          <a:stretch>
            <a:fillRect/>
          </a:stretch>
        </p:blipFill>
        <p:spPr>
          <a:xfrm>
            <a:off x="1554480" y="2798064"/>
            <a:ext cx="3899274" cy="658368"/>
          </a:xfrm>
          <a:prstGeom prst="rect">
            <a:avLst/>
          </a:prstGeom>
        </p:spPr>
      </p:pic>
      <p:sp>
        <p:nvSpPr>
          <p:cNvPr id="10" name="Text 5"/>
          <p:cNvSpPr txBox="1"/>
          <p:nvPr/>
        </p:nvSpPr>
        <p:spPr>
          <a:xfrm>
            <a:off x="457200" y="3739896"/>
            <a:ext cx="1097280" cy="274320"/>
          </a:xfrm>
          <a:prstGeom prst="rect">
            <a:avLst/>
          </a:prstGeom>
          <a:noFill/>
          <a:ln/>
        </p:spPr>
        <p:txBody>
          <a:bodyPr wrap="square" lIns="0" tIns="0" rIns="0" bIns="0" rtlCol="0" anchor="t"/>
          <a:lstStyle/>
          <a:p>
            <a:pPr indent="0" marL="0">
              <a:buNone/>
            </a:pPr>
            <a:r>
              <a:rPr lang="en-US" sz="1300" b="1" dirty="0">
                <a:solidFill>
                  <a:srgbClr val="E5484D"/>
                </a:solidFill>
                <a:latin typeface="Calibri" pitchFamily="34" charset="0"/>
                <a:ea typeface="Calibri" pitchFamily="34" charset="-122"/>
                <a:cs typeface="Calibri" pitchFamily="34" charset="-120"/>
              </a:rPr>
              <a:t>Falls upward</a:t>
            </a:r>
            <a:endParaRPr lang="en-US" sz="1300" dirty="0"/>
          </a:p>
        </p:txBody>
      </p:sp>
      <p:pic>
        <p:nvPicPr>
          <p:cNvPr id="11" name="Image 3" descr="assets/film_falls_upward.png">    </p:cNvPr>
          <p:cNvPicPr>
            <a:picLocks noChangeAspect="1"/>
          </p:cNvPicPr>
          <p:nvPr/>
        </p:nvPicPr>
        <p:blipFill>
          <a:blip r:embed="rId4"/>
          <a:stretch>
            <a:fillRect/>
          </a:stretch>
        </p:blipFill>
        <p:spPr>
          <a:xfrm>
            <a:off x="1554480" y="3557016"/>
            <a:ext cx="3899274" cy="658368"/>
          </a:xfrm>
          <a:prstGeom prst="rect">
            <a:avLst/>
          </a:prstGeom>
        </p:spPr>
      </p:pic>
      <p:sp>
        <p:nvSpPr>
          <p:cNvPr id="12" name="Text 6"/>
          <p:cNvSpPr txBox="1"/>
          <p:nvPr/>
        </p:nvSpPr>
        <p:spPr>
          <a:xfrm>
            <a:off x="1554480" y="4343400"/>
            <a:ext cx="3657600" cy="274320"/>
          </a:xfrm>
          <a:prstGeom prst="rect">
            <a:avLst/>
          </a:prstGeom>
          <a:noFill/>
          <a:ln/>
        </p:spPr>
        <p:txBody>
          <a:bodyPr wrap="square" lIns="0" tIns="0" rIns="0" bIns="0" rtlCol="0" anchor="t"/>
          <a:lstStyle/>
          <a:p>
            <a:pPr indent="0" marL="0">
              <a:buNone/>
            </a:pPr>
            <a:r>
              <a:rPr lang="en-US" sz="1100" dirty="0">
                <a:solidFill>
                  <a:srgbClr val="8A9BB8"/>
                </a:solidFill>
                <a:latin typeface="Calibri" pitchFamily="34" charset="0"/>
                <a:ea typeface="Calibri" pitchFamily="34" charset="-122"/>
                <a:cs typeface="Calibri" pitchFamily="34" charset="-120"/>
              </a:rPr>
              <a:t>past (grey)  →  future (amber)</a:t>
            </a:r>
            <a:endParaRPr lang="en-US" sz="1100" dirty="0"/>
          </a:p>
        </p:txBody>
      </p:sp>
      <p:sp>
        <p:nvSpPr>
          <p:cNvPr id="13" name="Shape 7"/>
          <p:cNvSpPr/>
          <p:nvPr/>
        </p:nvSpPr>
        <p:spPr>
          <a:xfrm>
            <a:off x="5669280" y="1280160"/>
            <a:ext cx="3017520" cy="3017520"/>
          </a:xfrm>
          <a:prstGeom prst="roundRect">
            <a:avLst>
              <a:gd name="adj" fmla="val 2424"/>
            </a:avLst>
          </a:prstGeom>
          <a:solidFill>
            <a:srgbClr val="16223A"/>
          </a:solidFill>
          <a:ln w="12700">
            <a:solidFill>
              <a:srgbClr val="16223A"/>
            </a:solidFill>
            <a:prstDash val="solid"/>
          </a:ln>
        </p:spPr>
      </p:sp>
      <p:sp>
        <p:nvSpPr>
          <p:cNvPr id="14" name="Text 8"/>
          <p:cNvSpPr txBox="1"/>
          <p:nvPr/>
        </p:nvSpPr>
        <p:spPr>
          <a:xfrm>
            <a:off x="5852160" y="1463040"/>
            <a:ext cx="2651760" cy="365760"/>
          </a:xfrm>
          <a:prstGeom prst="rect">
            <a:avLst/>
          </a:prstGeom>
          <a:noFill/>
          <a:ln/>
        </p:spPr>
        <p:txBody>
          <a:bodyPr wrap="square" lIns="0" tIns="0" rIns="0" bIns="0" rtlCol="0" anchor="t"/>
          <a:lstStyle/>
          <a:p>
            <a:pPr indent="0" marL="0">
              <a:buNone/>
            </a:pPr>
            <a:r>
              <a:rPr lang="en-US" sz="1500" b="1" dirty="0">
                <a:solidFill>
                  <a:srgbClr val="F5A524"/>
                </a:solidFill>
                <a:latin typeface="Calibri" pitchFamily="34" charset="0"/>
                <a:ea typeface="Calibri" pitchFamily="34" charset="-122"/>
                <a:cs typeface="Calibri" pitchFamily="34" charset="-120"/>
              </a:rPr>
              <a:t>Surprise = prediction error</a:t>
            </a:r>
            <a:endParaRPr lang="en-US" sz="1500" dirty="0"/>
          </a:p>
        </p:txBody>
      </p:sp>
      <p:sp>
        <p:nvSpPr>
          <p:cNvPr id="15" name="Text 9"/>
          <p:cNvSpPr txBox="1"/>
          <p:nvPr/>
        </p:nvSpPr>
        <p:spPr>
          <a:xfrm>
            <a:off x="5852160" y="1920240"/>
            <a:ext cx="2651760" cy="2194560"/>
          </a:xfrm>
          <a:prstGeom prst="rect">
            <a:avLst/>
          </a:prstGeom>
          <a:noFill/>
          <a:ln/>
        </p:spPr>
        <p:txBody>
          <a:bodyPr wrap="square" lIns="0" tIns="0" rIns="0" bIns="0" rtlCol="0" anchor="t"/>
          <a:lstStyle/>
          <a:p>
            <a:pPr indent="0" marL="0">
              <a:buNone/>
            </a:pPr>
            <a:r>
              <a:rPr lang="en-US" sz="1300" dirty="0">
                <a:solidFill>
                  <a:srgbClr val="EAF0FA"/>
                </a:solidFill>
                <a:latin typeface="Calibri" pitchFamily="34" charset="0"/>
                <a:ea typeface="Calibri" pitchFamily="34" charset="-122"/>
                <a:cs typeface="Calibri" pitchFamily="34" charset="-120"/>
              </a:rPr>
              <a:t>Infants stare longer at impossible events.</a:t>
            </a:r>
            <a:endParaRPr lang="en-US" sz="1300" dirty="0"/>
          </a:p>
          <a:p>
            <a:pPr indent="0" marL="0">
              <a:buNone/>
            </a:pPr>
            <a:endParaRPr lang="en-US" sz="1300" dirty="0"/>
          </a:p>
          <a:p>
            <a:pPr indent="0" marL="0">
              <a:buNone/>
            </a:pPr>
            <a:r>
              <a:rPr lang="en-US" sz="1300" dirty="0">
                <a:solidFill>
                  <a:srgbClr val="EAF0FA"/>
                </a:solidFill>
                <a:latin typeface="Calibri" pitchFamily="34" charset="0"/>
                <a:ea typeface="Calibri" pitchFamily="34" charset="-122"/>
                <a:cs typeface="Calibri" pitchFamily="34" charset="-120"/>
              </a:rPr>
              <a:t>If the model has learned physics, impossible videos should surprise it more.</a:t>
            </a:r>
            <a:endParaRPr lang="en-US" sz="1300" dirty="0"/>
          </a:p>
          <a:p>
            <a:pPr indent="0" marL="0">
              <a:buNone/>
            </a:pPr>
            <a:endParaRPr lang="en-US" sz="1300" dirty="0"/>
          </a:p>
          <a:p>
            <a:pPr indent="0" marL="0">
              <a:buNone/>
            </a:pPr>
            <a:r>
              <a:rPr lang="en-US" sz="1300" dirty="0">
                <a:solidFill>
                  <a:srgbClr val="EAF0FA"/>
                </a:solidFill>
                <a:latin typeface="Calibri" pitchFamily="34" charset="0"/>
                <a:ea typeface="Calibri" pitchFamily="34" charset="-122"/>
                <a:cs typeface="Calibri" pitchFamily="34" charset="-120"/>
              </a:rPr>
              <a:t>Result: live from the notebook →</a:t>
            </a:r>
            <a:endParaRPr lang="en-US" sz="1300" dirty="0"/>
          </a:p>
        </p:txBody>
      </p:sp>
      <p:sp>
        <p:nvSpPr>
          <p:cNvPr id="16" name="Shape 10"/>
          <p:cNvSpPr/>
          <p:nvPr/>
        </p:nvSpPr>
        <p:spPr>
          <a:xfrm>
            <a:off x="5486400" y="4572000"/>
            <a:ext cx="3200400" cy="347472"/>
          </a:xfrm>
          <a:prstGeom prst="roundRect">
            <a:avLst>
              <a:gd name="adj" fmla="val 50000"/>
            </a:avLst>
          </a:prstGeom>
          <a:solidFill>
            <a:srgbClr val="F5A524"/>
          </a:solidFill>
          <a:ln w="12700">
            <a:solidFill>
              <a:srgbClr val="F5A524"/>
            </a:solidFill>
            <a:prstDash val="solid"/>
          </a:ln>
        </p:spPr>
      </p:sp>
      <p:sp>
        <p:nvSpPr>
          <p:cNvPr id="17" name="Text 11"/>
          <p:cNvSpPr txBox="1"/>
          <p:nvPr/>
        </p:nvSpPr>
        <p:spPr>
          <a:xfrm>
            <a:off x="5486400" y="4572000"/>
            <a:ext cx="3200400" cy="347472"/>
          </a:xfrm>
          <a:prstGeom prst="rect">
            <a:avLst/>
          </a:prstGeom>
          <a:noFill/>
          <a:ln/>
        </p:spPr>
        <p:txBody>
          <a:bodyPr wrap="square" lIns="0" tIns="0" rIns="0" bIns="0" rtlCol="0" anchor="ctr"/>
          <a:lstStyle/>
          <a:p>
            <a:pPr algn="ctr" indent="0" marL="0">
              <a:buNone/>
            </a:pPr>
            <a:r>
              <a:rPr lang="en-US" sz="1100" b="1" dirty="0">
                <a:solidFill>
                  <a:srgbClr val="0B1426"/>
                </a:solidFill>
                <a:latin typeface="Calibri" pitchFamily="34" charset="0"/>
                <a:ea typeface="Calibri" pitchFamily="34" charset="-122"/>
                <a:cs typeface="Calibri" pitchFamily="34" charset="-120"/>
              </a:rPr>
              <a:t>▶  LIVE DEMO  ·  3  V-JEPA 2 from Hugging Face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The journey</a:t>
            </a:r>
            <a:endParaRPr lang="en-US" sz="3000" dirty="0"/>
          </a:p>
        </p:txBody>
      </p:sp>
      <p:sp>
        <p:nvSpPr>
          <p:cNvPr id="4" name="Shape 2"/>
          <p:cNvSpPr/>
          <p:nvPr/>
        </p:nvSpPr>
        <p:spPr>
          <a:xfrm>
            <a:off x="822960" y="2331720"/>
            <a:ext cx="7498080" cy="0"/>
          </a:xfrm>
          <a:prstGeom prst="line">
            <a:avLst/>
          </a:prstGeom>
          <a:noFill/>
          <a:ln w="25400">
            <a:solidFill>
              <a:srgbClr val="8A9BB8"/>
            </a:solidFill>
            <a:prstDash val="solid"/>
          </a:ln>
        </p:spPr>
      </p:sp>
      <p:sp>
        <p:nvSpPr>
          <p:cNvPr id="5" name="Shape 3"/>
          <p:cNvSpPr/>
          <p:nvPr/>
        </p:nvSpPr>
        <p:spPr>
          <a:xfrm>
            <a:off x="566928" y="2075688"/>
            <a:ext cx="512064" cy="512064"/>
          </a:xfrm>
          <a:prstGeom prst="ellipse">
            <a:avLst/>
          </a:prstGeom>
          <a:solidFill>
            <a:srgbClr val="4FD1E8"/>
          </a:solidFill>
          <a:ln w="38100">
            <a:solidFill>
              <a:srgbClr val="0B1426"/>
            </a:solidFill>
            <a:prstDash val="solid"/>
          </a:ln>
        </p:spPr>
      </p:sp>
      <p:sp>
        <p:nvSpPr>
          <p:cNvPr id="6" name="Text 4"/>
          <p:cNvSpPr txBox="1"/>
          <p:nvPr/>
        </p:nvSpPr>
        <p:spPr>
          <a:xfrm>
            <a:off x="566928" y="2075688"/>
            <a:ext cx="512064" cy="512064"/>
          </a:xfrm>
          <a:prstGeom prst="rect">
            <a:avLst/>
          </a:prstGeom>
          <a:noFill/>
          <a:ln/>
        </p:spPr>
        <p:txBody>
          <a:bodyPr wrap="square" lIns="0" tIns="0" rIns="0" bIns="0" rtlCol="0" anchor="ctr"/>
          <a:lstStyle/>
          <a:p>
            <a:pPr algn="ctr" indent="0" marL="0">
              <a:buNone/>
            </a:pPr>
            <a:r>
              <a:rPr lang="en-US" sz="1400" b="1" dirty="0">
                <a:solidFill>
                  <a:srgbClr val="0B1426"/>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1440" y="2788920"/>
            <a:ext cx="1463040" cy="365760"/>
          </a:xfrm>
          <a:prstGeom prst="rect">
            <a:avLst/>
          </a:prstGeom>
          <a:noFill/>
          <a:ln/>
        </p:spPr>
        <p:txBody>
          <a:bodyPr wrap="square" lIns="0" tIns="0" rIns="0" bIns="0" rtlCol="0" anchor="t"/>
          <a:lstStyle/>
          <a:p>
            <a:pPr algn="ctr" indent="0" marL="0">
              <a:buNone/>
            </a:pPr>
            <a:r>
              <a:rPr lang="en-US" sz="1500" b="1" dirty="0">
                <a:solidFill>
                  <a:srgbClr val="EAF0FA"/>
                </a:solidFill>
                <a:latin typeface="Calibri" pitchFamily="34" charset="0"/>
                <a:ea typeface="Calibri" pitchFamily="34" charset="-122"/>
                <a:cs typeface="Calibri" pitchFamily="34" charset="-120"/>
              </a:rPr>
              <a:t>Equation</a:t>
            </a:r>
            <a:endParaRPr lang="en-US" sz="1500" dirty="0"/>
          </a:p>
        </p:txBody>
      </p:sp>
      <p:sp>
        <p:nvSpPr>
          <p:cNvPr id="8" name="Text 6"/>
          <p:cNvSpPr txBox="1"/>
          <p:nvPr/>
        </p:nvSpPr>
        <p:spPr>
          <a:xfrm>
            <a:off x="91440" y="3154680"/>
            <a:ext cx="1463040" cy="274320"/>
          </a:xfrm>
          <a:prstGeom prst="rect">
            <a:avLst/>
          </a:prstGeom>
          <a:noFill/>
          <a:ln/>
        </p:spPr>
        <p:txBody>
          <a:bodyPr wrap="square" lIns="0" tIns="0" rIns="0" bIns="0" rtlCol="0" anchor="t"/>
          <a:lstStyle/>
          <a:p>
            <a:pPr algn="ctr" indent="0" marL="0">
              <a:buNone/>
            </a:pPr>
            <a:r>
              <a:rPr lang="en-US" sz="1200" dirty="0">
                <a:solidFill>
                  <a:srgbClr val="8A9BB8"/>
                </a:solidFill>
                <a:latin typeface="Calibri" pitchFamily="34" charset="0"/>
                <a:ea typeface="Calibri" pitchFamily="34" charset="-122"/>
                <a:cs typeface="Calibri" pitchFamily="34" charset="-120"/>
              </a:rPr>
              <a:t>Newton</a:t>
            </a:r>
            <a:endParaRPr lang="en-US" sz="1200" dirty="0"/>
          </a:p>
        </p:txBody>
      </p:sp>
      <p:sp>
        <p:nvSpPr>
          <p:cNvPr id="9" name="Shape 7"/>
          <p:cNvSpPr/>
          <p:nvPr/>
        </p:nvSpPr>
        <p:spPr>
          <a:xfrm>
            <a:off x="2066544" y="2075688"/>
            <a:ext cx="512064" cy="512064"/>
          </a:xfrm>
          <a:prstGeom prst="ellipse">
            <a:avLst/>
          </a:prstGeom>
          <a:solidFill>
            <a:srgbClr val="5B8DEF"/>
          </a:solidFill>
          <a:ln w="38100">
            <a:solidFill>
              <a:srgbClr val="0B1426"/>
            </a:solidFill>
            <a:prstDash val="solid"/>
          </a:ln>
        </p:spPr>
      </p:sp>
      <p:sp>
        <p:nvSpPr>
          <p:cNvPr id="10" name="Text 8"/>
          <p:cNvSpPr txBox="1"/>
          <p:nvPr/>
        </p:nvSpPr>
        <p:spPr>
          <a:xfrm>
            <a:off x="2066544" y="2075688"/>
            <a:ext cx="512064" cy="512064"/>
          </a:xfrm>
          <a:prstGeom prst="rect">
            <a:avLst/>
          </a:prstGeom>
          <a:noFill/>
          <a:ln/>
        </p:spPr>
        <p:txBody>
          <a:bodyPr wrap="square" lIns="0" tIns="0" rIns="0" bIns="0" rtlCol="0" anchor="ctr"/>
          <a:lstStyle/>
          <a:p>
            <a:pPr algn="ctr" indent="0" marL="0">
              <a:buNone/>
            </a:pPr>
            <a:r>
              <a:rPr lang="en-US" sz="1400" b="1" dirty="0">
                <a:solidFill>
                  <a:srgbClr val="0B1426"/>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591056" y="2788920"/>
            <a:ext cx="1463040" cy="365760"/>
          </a:xfrm>
          <a:prstGeom prst="rect">
            <a:avLst/>
          </a:prstGeom>
          <a:noFill/>
          <a:ln/>
        </p:spPr>
        <p:txBody>
          <a:bodyPr wrap="square" lIns="0" tIns="0" rIns="0" bIns="0" rtlCol="0" anchor="t"/>
          <a:lstStyle/>
          <a:p>
            <a:pPr algn="ctr" indent="0" marL="0">
              <a:buNone/>
            </a:pPr>
            <a:r>
              <a:rPr lang="en-US" sz="1500" b="1" dirty="0">
                <a:solidFill>
                  <a:srgbClr val="EAF0FA"/>
                </a:solidFill>
                <a:latin typeface="Calibri" pitchFamily="34" charset="0"/>
                <a:ea typeface="Calibri" pitchFamily="34" charset="-122"/>
                <a:cs typeface="Calibri" pitchFamily="34" charset="-120"/>
              </a:rPr>
              <a:t>Data</a:t>
            </a:r>
            <a:endParaRPr lang="en-US" sz="1500" dirty="0"/>
          </a:p>
        </p:txBody>
      </p:sp>
      <p:sp>
        <p:nvSpPr>
          <p:cNvPr id="12" name="Text 10"/>
          <p:cNvSpPr txBox="1"/>
          <p:nvPr/>
        </p:nvSpPr>
        <p:spPr>
          <a:xfrm>
            <a:off x="1591056" y="3154680"/>
            <a:ext cx="1463040" cy="274320"/>
          </a:xfrm>
          <a:prstGeom prst="rect">
            <a:avLst/>
          </a:prstGeom>
          <a:noFill/>
          <a:ln/>
        </p:spPr>
        <p:txBody>
          <a:bodyPr wrap="square" lIns="0" tIns="0" rIns="0" bIns="0" rtlCol="0" anchor="t"/>
          <a:lstStyle/>
          <a:p>
            <a:pPr algn="ctr" indent="0" marL="0">
              <a:buNone/>
            </a:pPr>
            <a:r>
              <a:rPr lang="en-US" sz="1200" dirty="0">
                <a:solidFill>
                  <a:srgbClr val="8A9BB8"/>
                </a:solidFill>
                <a:latin typeface="Calibri" pitchFamily="34" charset="0"/>
                <a:ea typeface="Calibri" pitchFamily="34" charset="-122"/>
                <a:cs typeface="Calibri" pitchFamily="34" charset="-120"/>
              </a:rPr>
              <a:t>Statistics</a:t>
            </a:r>
            <a:endParaRPr lang="en-US" sz="1200" dirty="0"/>
          </a:p>
        </p:txBody>
      </p:sp>
      <p:sp>
        <p:nvSpPr>
          <p:cNvPr id="13" name="Shape 11"/>
          <p:cNvSpPr/>
          <p:nvPr/>
        </p:nvSpPr>
        <p:spPr>
          <a:xfrm>
            <a:off x="3566160" y="2075688"/>
            <a:ext cx="512064" cy="512064"/>
          </a:xfrm>
          <a:prstGeom prst="ellipse">
            <a:avLst/>
          </a:prstGeom>
          <a:solidFill>
            <a:srgbClr val="5B8DEF"/>
          </a:solidFill>
          <a:ln w="38100">
            <a:solidFill>
              <a:srgbClr val="0B1426"/>
            </a:solidFill>
            <a:prstDash val="solid"/>
          </a:ln>
        </p:spPr>
      </p:sp>
      <p:sp>
        <p:nvSpPr>
          <p:cNvPr id="14" name="Text 12"/>
          <p:cNvSpPr txBox="1"/>
          <p:nvPr/>
        </p:nvSpPr>
        <p:spPr>
          <a:xfrm>
            <a:off x="3566160" y="2075688"/>
            <a:ext cx="512064" cy="512064"/>
          </a:xfrm>
          <a:prstGeom prst="rect">
            <a:avLst/>
          </a:prstGeom>
          <a:noFill/>
          <a:ln/>
        </p:spPr>
        <p:txBody>
          <a:bodyPr wrap="square" lIns="0" tIns="0" rIns="0" bIns="0" rtlCol="0" anchor="ctr"/>
          <a:lstStyle/>
          <a:p>
            <a:pPr algn="ctr" indent="0" marL="0">
              <a:buNone/>
            </a:pPr>
            <a:r>
              <a:rPr lang="en-US" sz="1400" b="1" dirty="0">
                <a:solidFill>
                  <a:srgbClr val="0B1426"/>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3090672" y="2788920"/>
            <a:ext cx="1463040" cy="365760"/>
          </a:xfrm>
          <a:prstGeom prst="rect">
            <a:avLst/>
          </a:prstGeom>
          <a:noFill/>
          <a:ln/>
        </p:spPr>
        <p:txBody>
          <a:bodyPr wrap="square" lIns="0" tIns="0" rIns="0" bIns="0" rtlCol="0" anchor="t"/>
          <a:lstStyle/>
          <a:p>
            <a:pPr algn="ctr" indent="0" marL="0">
              <a:buNone/>
            </a:pPr>
            <a:r>
              <a:rPr lang="en-US" sz="1500" b="1" dirty="0">
                <a:solidFill>
                  <a:srgbClr val="EAF0FA"/>
                </a:solidFill>
                <a:latin typeface="Calibri" pitchFamily="34" charset="0"/>
                <a:ea typeface="Calibri" pitchFamily="34" charset="-122"/>
                <a:cs typeface="Calibri" pitchFamily="34" charset="-120"/>
              </a:rPr>
              <a:t>Tensors</a:t>
            </a:r>
            <a:endParaRPr lang="en-US" sz="1500" dirty="0"/>
          </a:p>
        </p:txBody>
      </p:sp>
      <p:sp>
        <p:nvSpPr>
          <p:cNvPr id="16" name="Text 14"/>
          <p:cNvSpPr txBox="1"/>
          <p:nvPr/>
        </p:nvSpPr>
        <p:spPr>
          <a:xfrm>
            <a:off x="3090672" y="3154680"/>
            <a:ext cx="1463040" cy="274320"/>
          </a:xfrm>
          <a:prstGeom prst="rect">
            <a:avLst/>
          </a:prstGeom>
          <a:noFill/>
          <a:ln/>
        </p:spPr>
        <p:txBody>
          <a:bodyPr wrap="square" lIns="0" tIns="0" rIns="0" bIns="0" rtlCol="0" anchor="t"/>
          <a:lstStyle/>
          <a:p>
            <a:pPr algn="ctr" indent="0" marL="0">
              <a:buNone/>
            </a:pPr>
            <a:r>
              <a:rPr lang="en-US" sz="1200" dirty="0">
                <a:solidFill>
                  <a:srgbClr val="8A9BB8"/>
                </a:solidFill>
                <a:latin typeface="Calibri" pitchFamily="34" charset="0"/>
                <a:ea typeface="Calibri" pitchFamily="34" charset="-122"/>
                <a:cs typeface="Calibri" pitchFamily="34" charset="-120"/>
              </a:rPr>
              <a:t>The language</a:t>
            </a:r>
            <a:endParaRPr lang="en-US" sz="1200" dirty="0"/>
          </a:p>
        </p:txBody>
      </p:sp>
      <p:sp>
        <p:nvSpPr>
          <p:cNvPr id="17" name="Shape 15"/>
          <p:cNvSpPr/>
          <p:nvPr/>
        </p:nvSpPr>
        <p:spPr>
          <a:xfrm>
            <a:off x="5065776" y="2075688"/>
            <a:ext cx="512064" cy="512064"/>
          </a:xfrm>
          <a:prstGeom prst="ellipse">
            <a:avLst/>
          </a:prstGeom>
          <a:solidFill>
            <a:srgbClr val="5B8DEF"/>
          </a:solidFill>
          <a:ln w="38100">
            <a:solidFill>
              <a:srgbClr val="0B1426"/>
            </a:solidFill>
            <a:prstDash val="solid"/>
          </a:ln>
        </p:spPr>
      </p:sp>
      <p:sp>
        <p:nvSpPr>
          <p:cNvPr id="18" name="Text 16"/>
          <p:cNvSpPr txBox="1"/>
          <p:nvPr/>
        </p:nvSpPr>
        <p:spPr>
          <a:xfrm>
            <a:off x="5065776" y="2075688"/>
            <a:ext cx="512064" cy="512064"/>
          </a:xfrm>
          <a:prstGeom prst="rect">
            <a:avLst/>
          </a:prstGeom>
          <a:noFill/>
          <a:ln/>
        </p:spPr>
        <p:txBody>
          <a:bodyPr wrap="square" lIns="0" tIns="0" rIns="0" bIns="0" rtlCol="0" anchor="ctr"/>
          <a:lstStyle/>
          <a:p>
            <a:pPr algn="ctr" indent="0" marL="0">
              <a:buNone/>
            </a:pPr>
            <a:r>
              <a:rPr lang="en-US" sz="1400" b="1" dirty="0">
                <a:solidFill>
                  <a:srgbClr val="0B1426"/>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4590288" y="2788920"/>
            <a:ext cx="1463040" cy="365760"/>
          </a:xfrm>
          <a:prstGeom prst="rect">
            <a:avLst/>
          </a:prstGeom>
          <a:noFill/>
          <a:ln/>
        </p:spPr>
        <p:txBody>
          <a:bodyPr wrap="square" lIns="0" tIns="0" rIns="0" bIns="0" rtlCol="0" anchor="t"/>
          <a:lstStyle/>
          <a:p>
            <a:pPr algn="ctr" indent="0" marL="0">
              <a:buNone/>
            </a:pPr>
            <a:r>
              <a:rPr lang="en-US" sz="1500" b="1" dirty="0">
                <a:solidFill>
                  <a:srgbClr val="EAF0FA"/>
                </a:solidFill>
                <a:latin typeface="Calibri" pitchFamily="34" charset="0"/>
                <a:ea typeface="Calibri" pitchFamily="34" charset="-122"/>
                <a:cs typeface="Calibri" pitchFamily="34" charset="-120"/>
              </a:rPr>
              <a:t>PINNs</a:t>
            </a:r>
            <a:endParaRPr lang="en-US" sz="1500" dirty="0"/>
          </a:p>
        </p:txBody>
      </p:sp>
      <p:sp>
        <p:nvSpPr>
          <p:cNvPr id="20" name="Text 18"/>
          <p:cNvSpPr txBox="1"/>
          <p:nvPr/>
        </p:nvSpPr>
        <p:spPr>
          <a:xfrm>
            <a:off x="4590288" y="3154680"/>
            <a:ext cx="1463040" cy="274320"/>
          </a:xfrm>
          <a:prstGeom prst="rect">
            <a:avLst/>
          </a:prstGeom>
          <a:noFill/>
          <a:ln/>
        </p:spPr>
        <p:txBody>
          <a:bodyPr wrap="square" lIns="0" tIns="0" rIns="0" bIns="0" rtlCol="0" anchor="t"/>
          <a:lstStyle/>
          <a:p>
            <a:pPr algn="ctr" indent="0" marL="0">
              <a:buNone/>
            </a:pPr>
            <a:r>
              <a:rPr lang="en-US" sz="1200" dirty="0">
                <a:solidFill>
                  <a:srgbClr val="8A9BB8"/>
                </a:solidFill>
                <a:latin typeface="Calibri" pitchFamily="34" charset="0"/>
                <a:ea typeface="Calibri" pitchFamily="34" charset="-122"/>
                <a:cs typeface="Calibri" pitchFamily="34" charset="-120"/>
              </a:rPr>
              <a:t>Physics + data</a:t>
            </a:r>
            <a:endParaRPr lang="en-US" sz="1200" dirty="0"/>
          </a:p>
        </p:txBody>
      </p:sp>
      <p:sp>
        <p:nvSpPr>
          <p:cNvPr id="21" name="Shape 19"/>
          <p:cNvSpPr/>
          <p:nvPr/>
        </p:nvSpPr>
        <p:spPr>
          <a:xfrm>
            <a:off x="6565392" y="2075688"/>
            <a:ext cx="512064" cy="512064"/>
          </a:xfrm>
          <a:prstGeom prst="ellipse">
            <a:avLst/>
          </a:prstGeom>
          <a:solidFill>
            <a:srgbClr val="5B8DEF"/>
          </a:solidFill>
          <a:ln w="38100">
            <a:solidFill>
              <a:srgbClr val="0B1426"/>
            </a:solidFill>
            <a:prstDash val="solid"/>
          </a:ln>
        </p:spPr>
      </p:sp>
      <p:sp>
        <p:nvSpPr>
          <p:cNvPr id="22" name="Text 20"/>
          <p:cNvSpPr txBox="1"/>
          <p:nvPr/>
        </p:nvSpPr>
        <p:spPr>
          <a:xfrm>
            <a:off x="6565392" y="2075688"/>
            <a:ext cx="512064" cy="512064"/>
          </a:xfrm>
          <a:prstGeom prst="rect">
            <a:avLst/>
          </a:prstGeom>
          <a:noFill/>
          <a:ln/>
        </p:spPr>
        <p:txBody>
          <a:bodyPr wrap="square" lIns="0" tIns="0" rIns="0" bIns="0" rtlCol="0" anchor="ctr"/>
          <a:lstStyle/>
          <a:p>
            <a:pPr algn="ctr" indent="0" marL="0">
              <a:buNone/>
            </a:pPr>
            <a:r>
              <a:rPr lang="en-US" sz="1400" b="1" dirty="0">
                <a:solidFill>
                  <a:srgbClr val="0B1426"/>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6089904" y="2788920"/>
            <a:ext cx="1463040" cy="365760"/>
          </a:xfrm>
          <a:prstGeom prst="rect">
            <a:avLst/>
          </a:prstGeom>
          <a:noFill/>
          <a:ln/>
        </p:spPr>
        <p:txBody>
          <a:bodyPr wrap="square" lIns="0" tIns="0" rIns="0" bIns="0" rtlCol="0" anchor="t"/>
          <a:lstStyle/>
          <a:p>
            <a:pPr algn="ctr" indent="0" marL="0">
              <a:buNone/>
            </a:pPr>
            <a:r>
              <a:rPr lang="en-US" sz="1500" b="1" dirty="0">
                <a:solidFill>
                  <a:srgbClr val="EAF0FA"/>
                </a:solidFill>
                <a:latin typeface="Calibri" pitchFamily="34" charset="0"/>
                <a:ea typeface="Calibri" pitchFamily="34" charset="-122"/>
                <a:cs typeface="Calibri" pitchFamily="34" charset="-120"/>
              </a:rPr>
              <a:t>Operators</a:t>
            </a:r>
            <a:endParaRPr lang="en-US" sz="1500" dirty="0"/>
          </a:p>
        </p:txBody>
      </p:sp>
      <p:sp>
        <p:nvSpPr>
          <p:cNvPr id="24" name="Text 22"/>
          <p:cNvSpPr txBox="1"/>
          <p:nvPr/>
        </p:nvSpPr>
        <p:spPr>
          <a:xfrm>
            <a:off x="6089904" y="3154680"/>
            <a:ext cx="1463040" cy="274320"/>
          </a:xfrm>
          <a:prstGeom prst="rect">
            <a:avLst/>
          </a:prstGeom>
          <a:noFill/>
          <a:ln/>
        </p:spPr>
        <p:txBody>
          <a:bodyPr wrap="square" lIns="0" tIns="0" rIns="0" bIns="0" rtlCol="0" anchor="t"/>
          <a:lstStyle/>
          <a:p>
            <a:pPr algn="ctr" indent="0" marL="0">
              <a:buNone/>
            </a:pPr>
            <a:r>
              <a:rPr lang="en-US" sz="1200" dirty="0">
                <a:solidFill>
                  <a:srgbClr val="8A9BB8"/>
                </a:solidFill>
                <a:latin typeface="Calibri" pitchFamily="34" charset="0"/>
                <a:ea typeface="Calibri" pitchFamily="34" charset="-122"/>
                <a:cs typeface="Calibri" pitchFamily="34" charset="-120"/>
              </a:rPr>
              <a:t>Learned solvers</a:t>
            </a:r>
            <a:endParaRPr lang="en-US" sz="1200" dirty="0"/>
          </a:p>
        </p:txBody>
      </p:sp>
      <p:sp>
        <p:nvSpPr>
          <p:cNvPr id="25" name="Shape 23"/>
          <p:cNvSpPr/>
          <p:nvPr/>
        </p:nvSpPr>
        <p:spPr>
          <a:xfrm>
            <a:off x="8065008" y="2075688"/>
            <a:ext cx="512064" cy="512064"/>
          </a:xfrm>
          <a:prstGeom prst="ellipse">
            <a:avLst/>
          </a:prstGeom>
          <a:solidFill>
            <a:srgbClr val="F5A524"/>
          </a:solidFill>
          <a:ln w="38100">
            <a:solidFill>
              <a:srgbClr val="0B1426"/>
            </a:solidFill>
            <a:prstDash val="solid"/>
          </a:ln>
        </p:spPr>
      </p:sp>
      <p:sp>
        <p:nvSpPr>
          <p:cNvPr id="26" name="Text 24"/>
          <p:cNvSpPr txBox="1"/>
          <p:nvPr/>
        </p:nvSpPr>
        <p:spPr>
          <a:xfrm>
            <a:off x="8065008" y="2075688"/>
            <a:ext cx="512064" cy="512064"/>
          </a:xfrm>
          <a:prstGeom prst="rect">
            <a:avLst/>
          </a:prstGeom>
          <a:noFill/>
          <a:ln/>
        </p:spPr>
        <p:txBody>
          <a:bodyPr wrap="square" lIns="0" tIns="0" rIns="0" bIns="0" rtlCol="0" anchor="ctr"/>
          <a:lstStyle/>
          <a:p>
            <a:pPr algn="ctr" indent="0" marL="0">
              <a:buNone/>
            </a:pPr>
            <a:r>
              <a:rPr lang="en-US" sz="1400" b="1" dirty="0">
                <a:solidFill>
                  <a:srgbClr val="0B1426"/>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7589520" y="2788920"/>
            <a:ext cx="1463040" cy="365760"/>
          </a:xfrm>
          <a:prstGeom prst="rect">
            <a:avLst/>
          </a:prstGeom>
          <a:noFill/>
          <a:ln/>
        </p:spPr>
        <p:txBody>
          <a:bodyPr wrap="square" lIns="0" tIns="0" rIns="0" bIns="0" rtlCol="0" anchor="t"/>
          <a:lstStyle/>
          <a:p>
            <a:pPr algn="ctr" indent="0" marL="0">
              <a:buNone/>
            </a:pPr>
            <a:r>
              <a:rPr lang="en-US" sz="1500" b="1" dirty="0">
                <a:solidFill>
                  <a:srgbClr val="EAF0FA"/>
                </a:solidFill>
                <a:latin typeface="Calibri" pitchFamily="34" charset="0"/>
                <a:ea typeface="Calibri" pitchFamily="34" charset="-122"/>
                <a:cs typeface="Calibri" pitchFamily="34" charset="-120"/>
              </a:rPr>
              <a:t>World models</a:t>
            </a:r>
            <a:endParaRPr lang="en-US" sz="1500" dirty="0"/>
          </a:p>
        </p:txBody>
      </p:sp>
      <p:sp>
        <p:nvSpPr>
          <p:cNvPr id="28" name="Text 26"/>
          <p:cNvSpPr txBox="1"/>
          <p:nvPr/>
        </p:nvSpPr>
        <p:spPr>
          <a:xfrm>
            <a:off x="7589520" y="3154680"/>
            <a:ext cx="1463040" cy="274320"/>
          </a:xfrm>
          <a:prstGeom prst="rect">
            <a:avLst/>
          </a:prstGeom>
          <a:noFill/>
          <a:ln/>
        </p:spPr>
        <p:txBody>
          <a:bodyPr wrap="square" lIns="0" tIns="0" rIns="0" bIns="0" rtlCol="0" anchor="t"/>
          <a:lstStyle/>
          <a:p>
            <a:pPr algn="ctr" indent="0" marL="0">
              <a:buNone/>
            </a:pPr>
            <a:r>
              <a:rPr lang="en-US" sz="1200" dirty="0">
                <a:solidFill>
                  <a:srgbClr val="8A9BB8"/>
                </a:solidFill>
                <a:latin typeface="Calibri" pitchFamily="34" charset="0"/>
                <a:ea typeface="Calibri" pitchFamily="34" charset="-122"/>
                <a:cs typeface="Calibri" pitchFamily="34" charset="-120"/>
              </a:rPr>
              <a:t>Learned intuition</a:t>
            </a:r>
            <a:endParaRPr lang="en-US" sz="1200" dirty="0"/>
          </a:p>
        </p:txBody>
      </p:sp>
      <p:sp>
        <p:nvSpPr>
          <p:cNvPr id="29" name="Text 27"/>
          <p:cNvSpPr txBox="1"/>
          <p:nvPr/>
        </p:nvSpPr>
        <p:spPr>
          <a:xfrm>
            <a:off x="457200" y="4023360"/>
            <a:ext cx="8229600" cy="457200"/>
          </a:xfrm>
          <a:prstGeom prst="rect">
            <a:avLst/>
          </a:prstGeom>
          <a:noFill/>
          <a:ln/>
        </p:spPr>
        <p:txBody>
          <a:bodyPr wrap="square" lIns="0" tIns="0" rIns="0" bIns="0" rtlCol="0" anchor="t"/>
          <a:lstStyle/>
          <a:p>
            <a:pPr algn="ctr" indent="0" marL="0">
              <a:buNone/>
            </a:pPr>
            <a:r>
              <a:rPr lang="en-US" sz="1700" i="1" dirty="0">
                <a:solidFill>
                  <a:srgbClr val="F5A524"/>
                </a:solidFill>
                <a:latin typeface="Calibri" pitchFamily="34" charset="0"/>
                <a:ea typeface="Calibri" pitchFamily="34" charset="-122"/>
                <a:cs typeface="Calibri" pitchFamily="34" charset="-120"/>
              </a:rPr>
              <a:t>Each step keeps the mathematics of the one before.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F5A524"/>
                </a:solidFill>
                <a:latin typeface="Calibri" pitchFamily="34" charset="0"/>
                <a:ea typeface="Calibri" pitchFamily="34" charset="-122"/>
                <a:cs typeface="Calibri" pitchFamily="34" charset="-120"/>
              </a:rPr>
              <a:t>FRONTIER</a:t>
            </a:r>
            <a:endParaRPr lang="en-US" sz="1100" dirty="0"/>
          </a:p>
        </p:txBody>
      </p:sp>
      <p:sp>
        <p:nvSpPr>
          <p:cNvPr id="3" name="Text 1"/>
          <p:cNvSpPr txBox="1"/>
          <p:nvPr/>
        </p:nvSpPr>
        <p:spPr>
          <a:xfrm>
            <a:off x="457200" y="530352"/>
            <a:ext cx="8229600" cy="640080"/>
          </a:xfrm>
          <a:prstGeom prst="rect">
            <a:avLst/>
          </a:prstGeom>
          <a:noFill/>
          <a:ln/>
        </p:spPr>
        <p:txBody>
          <a:bodyPr wrap="square" lIns="0" tIns="0" rIns="0" bIns="0" rtlCol="0" anchor="t"/>
          <a:lstStyle/>
          <a:p>
            <a:pPr indent="0" marL="0">
              <a:buNone/>
            </a:pPr>
            <a:r>
              <a:rPr lang="en-US" sz="3000" b="1" dirty="0">
                <a:solidFill>
                  <a:srgbClr val="EAF0FA"/>
                </a:solidFill>
                <a:latin typeface="Cambria" pitchFamily="34" charset="0"/>
                <a:ea typeface="Cambria" pitchFamily="34" charset="-122"/>
                <a:cs typeface="Cambria" pitchFamily="34" charset="-120"/>
              </a:rPr>
              <a:t>Open questions</a:t>
            </a:r>
            <a:endParaRPr lang="en-US" sz="3000" dirty="0"/>
          </a:p>
        </p:txBody>
      </p:sp>
      <p:sp>
        <p:nvSpPr>
          <p:cNvPr id="4" name="Shape 2"/>
          <p:cNvSpPr/>
          <p:nvPr/>
        </p:nvSpPr>
        <p:spPr>
          <a:xfrm>
            <a:off x="457200" y="1371600"/>
            <a:ext cx="4023360" cy="1280160"/>
          </a:xfrm>
          <a:prstGeom prst="roundRect">
            <a:avLst>
              <a:gd name="adj" fmla="val 5714"/>
            </a:avLst>
          </a:prstGeom>
          <a:solidFill>
            <a:srgbClr val="16223A"/>
          </a:solidFill>
          <a:ln w="12700">
            <a:solidFill>
              <a:srgbClr val="16223A"/>
            </a:solidFill>
            <a:prstDash val="solid"/>
          </a:ln>
        </p:spPr>
      </p:sp>
      <p:sp>
        <p:nvSpPr>
          <p:cNvPr id="5" name="Text 3"/>
          <p:cNvSpPr txBox="1"/>
          <p:nvPr/>
        </p:nvSpPr>
        <p:spPr>
          <a:xfrm>
            <a:off x="640080" y="1554480"/>
            <a:ext cx="457200" cy="457200"/>
          </a:xfrm>
          <a:prstGeom prst="rect">
            <a:avLst/>
          </a:prstGeom>
          <a:noFill/>
          <a:ln/>
        </p:spPr>
        <p:txBody>
          <a:bodyPr wrap="square" lIns="0" tIns="0" rIns="0" bIns="0" rtlCol="0" anchor="ctr"/>
          <a:lstStyle/>
          <a:p>
            <a:pPr indent="0" marL="0">
              <a:buNone/>
            </a:pPr>
            <a:r>
              <a:rPr lang="en-US" sz="2800" b="1" dirty="0">
                <a:solidFill>
                  <a:srgbClr val="F5A524"/>
                </a:solidFill>
                <a:latin typeface="Cambria" pitchFamily="34" charset="0"/>
                <a:ea typeface="Cambria" pitchFamily="34" charset="-122"/>
                <a:cs typeface="Cambria" pitchFamily="34" charset="-120"/>
              </a:rPr>
              <a:t>?</a:t>
            </a:r>
            <a:endParaRPr lang="en-US" sz="2800" dirty="0"/>
          </a:p>
        </p:txBody>
      </p:sp>
      <p:sp>
        <p:nvSpPr>
          <p:cNvPr id="6" name="Text 4"/>
          <p:cNvSpPr txBox="1"/>
          <p:nvPr/>
        </p:nvSpPr>
        <p:spPr>
          <a:xfrm>
            <a:off x="1143000" y="1572768"/>
            <a:ext cx="3200400" cy="365760"/>
          </a:xfrm>
          <a:prstGeom prst="rect">
            <a:avLst/>
          </a:prstGeom>
          <a:noFill/>
          <a:ln/>
        </p:spPr>
        <p:txBody>
          <a:bodyPr wrap="square" lIns="0" tIns="0" rIns="0" bIns="0" rtlCol="0" anchor="t"/>
          <a:lstStyle/>
          <a:p>
            <a:pPr indent="0" marL="0">
              <a:buNone/>
            </a:pPr>
            <a:r>
              <a:rPr lang="en-US" sz="1600" b="1" dirty="0">
                <a:solidFill>
                  <a:srgbClr val="EAF0FA"/>
                </a:solidFill>
                <a:latin typeface="Calibri" pitchFamily="34" charset="0"/>
                <a:ea typeface="Calibri" pitchFamily="34" charset="-122"/>
                <a:cs typeface="Calibri" pitchFamily="34" charset="-120"/>
              </a:rPr>
              <a:t>Understanding or imitation?</a:t>
            </a:r>
            <a:endParaRPr lang="en-US" sz="1600" dirty="0"/>
          </a:p>
        </p:txBody>
      </p:sp>
      <p:sp>
        <p:nvSpPr>
          <p:cNvPr id="7" name="Text 5"/>
          <p:cNvSpPr txBox="1"/>
          <p:nvPr/>
        </p:nvSpPr>
        <p:spPr>
          <a:xfrm>
            <a:off x="1143000" y="1938528"/>
            <a:ext cx="3200400" cy="640080"/>
          </a:xfrm>
          <a:prstGeom prst="rect">
            <a:avLst/>
          </a:prstGeom>
          <a:noFill/>
          <a:ln/>
        </p:spPr>
        <p:txBody>
          <a:bodyPr wrap="square" lIns="0" tIns="0" rIns="0" bIns="0" rtlCol="0" anchor="t"/>
          <a:lstStyle/>
          <a:p>
            <a:pPr indent="0" marL="0">
              <a:buNone/>
            </a:pPr>
            <a:r>
              <a:rPr lang="en-US" sz="1300" dirty="0">
                <a:solidFill>
                  <a:srgbClr val="8A9BB8"/>
                </a:solidFill>
                <a:latin typeface="Calibri" pitchFamily="34" charset="0"/>
                <a:ea typeface="Calibri" pitchFamily="34" charset="-122"/>
                <a:cs typeface="Calibri" pitchFamily="34" charset="-120"/>
              </a:rPr>
              <a:t>Does it know physics, or has it memorised what videos look like?</a:t>
            </a:r>
            <a:endParaRPr lang="en-US" sz="1300" dirty="0"/>
          </a:p>
        </p:txBody>
      </p:sp>
      <p:sp>
        <p:nvSpPr>
          <p:cNvPr id="8" name="Shape 6"/>
          <p:cNvSpPr/>
          <p:nvPr/>
        </p:nvSpPr>
        <p:spPr>
          <a:xfrm>
            <a:off x="4663440" y="1371600"/>
            <a:ext cx="4023360" cy="1280160"/>
          </a:xfrm>
          <a:prstGeom prst="roundRect">
            <a:avLst>
              <a:gd name="adj" fmla="val 5714"/>
            </a:avLst>
          </a:prstGeom>
          <a:solidFill>
            <a:srgbClr val="16223A"/>
          </a:solidFill>
          <a:ln w="12700">
            <a:solidFill>
              <a:srgbClr val="16223A"/>
            </a:solidFill>
            <a:prstDash val="solid"/>
          </a:ln>
        </p:spPr>
      </p:sp>
      <p:sp>
        <p:nvSpPr>
          <p:cNvPr id="9" name="Text 7"/>
          <p:cNvSpPr txBox="1"/>
          <p:nvPr/>
        </p:nvSpPr>
        <p:spPr>
          <a:xfrm>
            <a:off x="4846320" y="1554480"/>
            <a:ext cx="457200" cy="457200"/>
          </a:xfrm>
          <a:prstGeom prst="rect">
            <a:avLst/>
          </a:prstGeom>
          <a:noFill/>
          <a:ln/>
        </p:spPr>
        <p:txBody>
          <a:bodyPr wrap="square" lIns="0" tIns="0" rIns="0" bIns="0" rtlCol="0" anchor="ctr"/>
          <a:lstStyle/>
          <a:p>
            <a:pPr indent="0" marL="0">
              <a:buNone/>
            </a:pPr>
            <a:r>
              <a:rPr lang="en-US" sz="2800" b="1" dirty="0">
                <a:solidFill>
                  <a:srgbClr val="F5A524"/>
                </a:solidFill>
                <a:latin typeface="Cambria" pitchFamily="34" charset="0"/>
                <a:ea typeface="Cambria" pitchFamily="34" charset="-122"/>
                <a:cs typeface="Cambria" pitchFamily="34" charset="-120"/>
              </a:rPr>
              <a:t>?</a:t>
            </a:r>
            <a:endParaRPr lang="en-US" sz="2800" dirty="0"/>
          </a:p>
        </p:txBody>
      </p:sp>
      <p:sp>
        <p:nvSpPr>
          <p:cNvPr id="10" name="Text 8"/>
          <p:cNvSpPr txBox="1"/>
          <p:nvPr/>
        </p:nvSpPr>
        <p:spPr>
          <a:xfrm>
            <a:off x="5349240" y="1572768"/>
            <a:ext cx="3200400" cy="365760"/>
          </a:xfrm>
          <a:prstGeom prst="rect">
            <a:avLst/>
          </a:prstGeom>
          <a:noFill/>
          <a:ln/>
        </p:spPr>
        <p:txBody>
          <a:bodyPr wrap="square" lIns="0" tIns="0" rIns="0" bIns="0" rtlCol="0" anchor="t"/>
          <a:lstStyle/>
          <a:p>
            <a:pPr indent="0" marL="0">
              <a:buNone/>
            </a:pPr>
            <a:r>
              <a:rPr lang="en-US" sz="1600" b="1" dirty="0">
                <a:solidFill>
                  <a:srgbClr val="EAF0FA"/>
                </a:solidFill>
                <a:latin typeface="Calibri" pitchFamily="34" charset="0"/>
                <a:ea typeface="Calibri" pitchFamily="34" charset="-122"/>
                <a:cs typeface="Calibri" pitchFamily="34" charset="-120"/>
              </a:rPr>
              <a:t>Conservation laws</a:t>
            </a:r>
            <a:endParaRPr lang="en-US" sz="1600" dirty="0"/>
          </a:p>
        </p:txBody>
      </p:sp>
      <p:sp>
        <p:nvSpPr>
          <p:cNvPr id="11" name="Text 9"/>
          <p:cNvSpPr txBox="1"/>
          <p:nvPr/>
        </p:nvSpPr>
        <p:spPr>
          <a:xfrm>
            <a:off x="5349240" y="1938528"/>
            <a:ext cx="3200400" cy="640080"/>
          </a:xfrm>
          <a:prstGeom prst="rect">
            <a:avLst/>
          </a:prstGeom>
          <a:noFill/>
          <a:ln/>
        </p:spPr>
        <p:txBody>
          <a:bodyPr wrap="square" lIns="0" tIns="0" rIns="0" bIns="0" rtlCol="0" anchor="t"/>
          <a:lstStyle/>
          <a:p>
            <a:pPr indent="0" marL="0">
              <a:buNone/>
            </a:pPr>
            <a:r>
              <a:rPr lang="en-US" sz="1300" dirty="0">
                <a:solidFill>
                  <a:srgbClr val="8A9BB8"/>
                </a:solidFill>
                <a:latin typeface="Calibri" pitchFamily="34" charset="0"/>
                <a:ea typeface="Calibri" pitchFamily="34" charset="-122"/>
                <a:cs typeface="Calibri" pitchFamily="34" charset="-120"/>
              </a:rPr>
              <a:t>Does it conserve energy and momentum over long predictions?</a:t>
            </a:r>
            <a:endParaRPr lang="en-US" sz="1300" dirty="0"/>
          </a:p>
        </p:txBody>
      </p:sp>
      <p:sp>
        <p:nvSpPr>
          <p:cNvPr id="12" name="Shape 10"/>
          <p:cNvSpPr/>
          <p:nvPr/>
        </p:nvSpPr>
        <p:spPr>
          <a:xfrm>
            <a:off x="457200" y="2834640"/>
            <a:ext cx="4023360" cy="1280160"/>
          </a:xfrm>
          <a:prstGeom prst="roundRect">
            <a:avLst>
              <a:gd name="adj" fmla="val 5714"/>
            </a:avLst>
          </a:prstGeom>
          <a:solidFill>
            <a:srgbClr val="16223A"/>
          </a:solidFill>
          <a:ln w="12700">
            <a:solidFill>
              <a:srgbClr val="16223A"/>
            </a:solidFill>
            <a:prstDash val="solid"/>
          </a:ln>
        </p:spPr>
      </p:sp>
      <p:sp>
        <p:nvSpPr>
          <p:cNvPr id="13" name="Text 11"/>
          <p:cNvSpPr txBox="1"/>
          <p:nvPr/>
        </p:nvSpPr>
        <p:spPr>
          <a:xfrm>
            <a:off x="640080" y="3017520"/>
            <a:ext cx="457200" cy="457200"/>
          </a:xfrm>
          <a:prstGeom prst="rect">
            <a:avLst/>
          </a:prstGeom>
          <a:noFill/>
          <a:ln/>
        </p:spPr>
        <p:txBody>
          <a:bodyPr wrap="square" lIns="0" tIns="0" rIns="0" bIns="0" rtlCol="0" anchor="ctr"/>
          <a:lstStyle/>
          <a:p>
            <a:pPr indent="0" marL="0">
              <a:buNone/>
            </a:pPr>
            <a:r>
              <a:rPr lang="en-US" sz="2800" b="1" dirty="0">
                <a:solidFill>
                  <a:srgbClr val="F5A524"/>
                </a:solidFill>
                <a:latin typeface="Cambria" pitchFamily="34" charset="0"/>
                <a:ea typeface="Cambria" pitchFamily="34" charset="-122"/>
                <a:cs typeface="Cambria" pitchFamily="34" charset="-120"/>
              </a:rPr>
              <a:t>?</a:t>
            </a:r>
            <a:endParaRPr lang="en-US" sz="2800" dirty="0"/>
          </a:p>
        </p:txBody>
      </p:sp>
      <p:sp>
        <p:nvSpPr>
          <p:cNvPr id="14" name="Text 12"/>
          <p:cNvSpPr txBox="1"/>
          <p:nvPr/>
        </p:nvSpPr>
        <p:spPr>
          <a:xfrm>
            <a:off x="1143000" y="3035808"/>
            <a:ext cx="3200400" cy="365760"/>
          </a:xfrm>
          <a:prstGeom prst="rect">
            <a:avLst/>
          </a:prstGeom>
          <a:noFill/>
          <a:ln/>
        </p:spPr>
        <p:txBody>
          <a:bodyPr wrap="square" lIns="0" tIns="0" rIns="0" bIns="0" rtlCol="0" anchor="t"/>
          <a:lstStyle/>
          <a:p>
            <a:pPr indent="0" marL="0">
              <a:buNone/>
            </a:pPr>
            <a:r>
              <a:rPr lang="en-US" sz="1600" b="1" dirty="0">
                <a:solidFill>
                  <a:srgbClr val="EAF0FA"/>
                </a:solidFill>
                <a:latin typeface="Calibri" pitchFamily="34" charset="0"/>
                <a:ea typeface="Calibri" pitchFamily="34" charset="-122"/>
                <a:cs typeface="Calibri" pitchFamily="34" charset="-120"/>
              </a:rPr>
              <a:t>Extrapolation</a:t>
            </a:r>
            <a:endParaRPr lang="en-US" sz="1600" dirty="0"/>
          </a:p>
        </p:txBody>
      </p:sp>
      <p:sp>
        <p:nvSpPr>
          <p:cNvPr id="15" name="Text 13"/>
          <p:cNvSpPr txBox="1"/>
          <p:nvPr/>
        </p:nvSpPr>
        <p:spPr>
          <a:xfrm>
            <a:off x="1143000" y="3401568"/>
            <a:ext cx="3200400" cy="640080"/>
          </a:xfrm>
          <a:prstGeom prst="rect">
            <a:avLst/>
          </a:prstGeom>
          <a:noFill/>
          <a:ln/>
        </p:spPr>
        <p:txBody>
          <a:bodyPr wrap="square" lIns="0" tIns="0" rIns="0" bIns="0" rtlCol="0" anchor="t"/>
          <a:lstStyle/>
          <a:p>
            <a:pPr indent="0" marL="0">
              <a:buNone/>
            </a:pPr>
            <a:r>
              <a:rPr lang="en-US" sz="1300" dirty="0">
                <a:solidFill>
                  <a:srgbClr val="8A9BB8"/>
                </a:solidFill>
                <a:latin typeface="Calibri" pitchFamily="34" charset="0"/>
                <a:ea typeface="Calibri" pitchFamily="34" charset="-122"/>
                <a:cs typeface="Calibri" pitchFamily="34" charset="-120"/>
              </a:rPr>
              <a:t>Can it handle situations it has never seen?</a:t>
            </a:r>
            <a:endParaRPr lang="en-US" sz="1300" dirty="0"/>
          </a:p>
        </p:txBody>
      </p:sp>
      <p:sp>
        <p:nvSpPr>
          <p:cNvPr id="16" name="Shape 14"/>
          <p:cNvSpPr/>
          <p:nvPr/>
        </p:nvSpPr>
        <p:spPr>
          <a:xfrm>
            <a:off x="4663440" y="2834640"/>
            <a:ext cx="4023360" cy="1280160"/>
          </a:xfrm>
          <a:prstGeom prst="roundRect">
            <a:avLst>
              <a:gd name="adj" fmla="val 5714"/>
            </a:avLst>
          </a:prstGeom>
          <a:solidFill>
            <a:srgbClr val="16223A"/>
          </a:solidFill>
          <a:ln w="12700">
            <a:solidFill>
              <a:srgbClr val="16223A"/>
            </a:solidFill>
            <a:prstDash val="solid"/>
          </a:ln>
        </p:spPr>
      </p:sp>
      <p:sp>
        <p:nvSpPr>
          <p:cNvPr id="17" name="Text 15"/>
          <p:cNvSpPr txBox="1"/>
          <p:nvPr/>
        </p:nvSpPr>
        <p:spPr>
          <a:xfrm>
            <a:off x="4846320" y="3017520"/>
            <a:ext cx="457200" cy="457200"/>
          </a:xfrm>
          <a:prstGeom prst="rect">
            <a:avLst/>
          </a:prstGeom>
          <a:noFill/>
          <a:ln/>
        </p:spPr>
        <p:txBody>
          <a:bodyPr wrap="square" lIns="0" tIns="0" rIns="0" bIns="0" rtlCol="0" anchor="ctr"/>
          <a:lstStyle/>
          <a:p>
            <a:pPr indent="0" marL="0">
              <a:buNone/>
            </a:pPr>
            <a:r>
              <a:rPr lang="en-US" sz="2800" b="1" dirty="0">
                <a:solidFill>
                  <a:srgbClr val="F5A524"/>
                </a:solidFill>
                <a:latin typeface="Cambria" pitchFamily="34" charset="0"/>
                <a:ea typeface="Cambria" pitchFamily="34" charset="-122"/>
                <a:cs typeface="Cambria" pitchFamily="34" charset="-120"/>
              </a:rPr>
              <a:t>?</a:t>
            </a:r>
            <a:endParaRPr lang="en-US" sz="2800" dirty="0"/>
          </a:p>
        </p:txBody>
      </p:sp>
      <p:sp>
        <p:nvSpPr>
          <p:cNvPr id="18" name="Text 16"/>
          <p:cNvSpPr txBox="1"/>
          <p:nvPr/>
        </p:nvSpPr>
        <p:spPr>
          <a:xfrm>
            <a:off x="5349240" y="3035808"/>
            <a:ext cx="3200400" cy="365760"/>
          </a:xfrm>
          <a:prstGeom prst="rect">
            <a:avLst/>
          </a:prstGeom>
          <a:noFill/>
          <a:ln/>
        </p:spPr>
        <p:txBody>
          <a:bodyPr wrap="square" lIns="0" tIns="0" rIns="0" bIns="0" rtlCol="0" anchor="t"/>
          <a:lstStyle/>
          <a:p>
            <a:pPr indent="0" marL="0">
              <a:buNone/>
            </a:pPr>
            <a:r>
              <a:rPr lang="en-US" sz="1600" b="1" dirty="0">
                <a:solidFill>
                  <a:srgbClr val="EAF0FA"/>
                </a:solidFill>
                <a:latin typeface="Calibri" pitchFamily="34" charset="0"/>
                <a:ea typeface="Calibri" pitchFamily="34" charset="-122"/>
                <a:cs typeface="Calibri" pitchFamily="34" charset="-120"/>
              </a:rPr>
              <a:t>Back to equations</a:t>
            </a:r>
            <a:endParaRPr lang="en-US" sz="1600" dirty="0"/>
          </a:p>
        </p:txBody>
      </p:sp>
      <p:sp>
        <p:nvSpPr>
          <p:cNvPr id="19" name="Text 17"/>
          <p:cNvSpPr txBox="1"/>
          <p:nvPr/>
        </p:nvSpPr>
        <p:spPr>
          <a:xfrm>
            <a:off x="5349240" y="3401568"/>
            <a:ext cx="3200400" cy="640080"/>
          </a:xfrm>
          <a:prstGeom prst="rect">
            <a:avLst/>
          </a:prstGeom>
          <a:noFill/>
          <a:ln/>
        </p:spPr>
        <p:txBody>
          <a:bodyPr wrap="square" lIns="0" tIns="0" rIns="0" bIns="0" rtlCol="0" anchor="t"/>
          <a:lstStyle/>
          <a:p>
            <a:pPr indent="0" marL="0">
              <a:buNone/>
            </a:pPr>
            <a:r>
              <a:rPr lang="en-US" sz="1300" dirty="0">
                <a:solidFill>
                  <a:srgbClr val="8A9BB8"/>
                </a:solidFill>
                <a:latin typeface="Calibri" pitchFamily="34" charset="0"/>
                <a:ea typeface="Calibri" pitchFamily="34" charset="-122"/>
                <a:cs typeface="Calibri" pitchFamily="34" charset="-120"/>
              </a:rPr>
              <a:t>Can we extract readable laws from a trained network (symbolic regression)?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426"/>
        </a:solidFill>
      </p:bgPr>
    </p:bg>
    <p:spTree>
      <p:nvGrpSpPr>
        <p:cNvPr id="1" name=""/>
        <p:cNvGrpSpPr/>
        <p:nvPr/>
      </p:nvGrpSpPr>
      <p:grpSpPr>
        <a:xfrm>
          <a:off x="0" y="0"/>
          <a:ext cx="0" cy="0"/>
          <a:chOff x="0" y="0"/>
          <a:chExt cx="0" cy="0"/>
        </a:xfrm>
      </p:grpSpPr>
      <p:sp>
        <p:nvSpPr>
          <p:cNvPr id="2" name="Text 0"/>
          <p:cNvSpPr txBox="1"/>
          <p:nvPr/>
        </p:nvSpPr>
        <p:spPr>
          <a:xfrm>
            <a:off x="457200" y="731520"/>
            <a:ext cx="4754880" cy="1554480"/>
          </a:xfrm>
          <a:prstGeom prst="rect">
            <a:avLst/>
          </a:prstGeom>
          <a:noFill/>
          <a:ln/>
        </p:spPr>
        <p:txBody>
          <a:bodyPr wrap="square" lIns="0" tIns="0" rIns="0" bIns="0" rtlCol="0" anchor="t"/>
          <a:lstStyle/>
          <a:p>
            <a:pPr indent="0" marL="0">
              <a:buNone/>
            </a:pPr>
            <a:r>
              <a:rPr lang="en-US" sz="2600" b="1" dirty="0">
                <a:solidFill>
                  <a:srgbClr val="EAF0FA"/>
                </a:solidFill>
                <a:latin typeface="Cambria" pitchFamily="34" charset="0"/>
                <a:ea typeface="Cambria" pitchFamily="34" charset="-122"/>
                <a:cs typeface="Cambria" pitchFamily="34" charset="-120"/>
              </a:rPr>
              <a:t>AI doesn't replace physics.</a:t>
            </a:r>
            <a:endParaRPr lang="en-US" sz="2600" dirty="0"/>
          </a:p>
          <a:p>
            <a:pPr indent="0" marL="0">
              <a:buNone/>
            </a:pPr>
            <a:r>
              <a:rPr lang="en-US" sz="2600" b="1" dirty="0">
                <a:solidFill>
                  <a:srgbClr val="EAF0FA"/>
                </a:solidFill>
                <a:latin typeface="Cambria" pitchFamily="34" charset="0"/>
                <a:ea typeface="Cambria" pitchFamily="34" charset="-122"/>
                <a:cs typeface="Cambria" pitchFamily="34" charset="-120"/>
              </a:rPr>
              <a:t>It's a new instrument for exploring it.</a:t>
            </a:r>
            <a:endParaRPr lang="en-US" sz="2600" dirty="0"/>
          </a:p>
        </p:txBody>
      </p:sp>
      <p:sp>
        <p:nvSpPr>
          <p:cNvPr id="3" name="Text 1"/>
          <p:cNvSpPr txBox="1"/>
          <p:nvPr/>
        </p:nvSpPr>
        <p:spPr>
          <a:xfrm>
            <a:off x="457200" y="2514600"/>
            <a:ext cx="4572000" cy="457200"/>
          </a:xfrm>
          <a:prstGeom prst="rect">
            <a:avLst/>
          </a:prstGeom>
          <a:noFill/>
          <a:ln/>
        </p:spPr>
        <p:txBody>
          <a:bodyPr wrap="square" lIns="0" tIns="0" rIns="0" bIns="0" rtlCol="0" anchor="t"/>
          <a:lstStyle/>
          <a:p>
            <a:pPr indent="0" marL="0">
              <a:buNone/>
            </a:pPr>
            <a:r>
              <a:rPr lang="en-US" sz="2000" b="1" dirty="0">
                <a:solidFill>
                  <a:srgbClr val="F5A524"/>
                </a:solidFill>
                <a:latin typeface="Calibri" pitchFamily="34" charset="0"/>
                <a:ea typeface="Calibri" pitchFamily="34" charset="-122"/>
                <a:cs typeface="Calibri" pitchFamily="34" charset="-120"/>
              </a:rPr>
              <a:t>Thank you  ·  Questions?</a:t>
            </a:r>
            <a:endParaRPr lang="en-US" sz="2000" dirty="0"/>
          </a:p>
        </p:txBody>
      </p:sp>
      <p:sp>
        <p:nvSpPr>
          <p:cNvPr id="4" name="Text 2"/>
          <p:cNvSpPr txBox="1"/>
          <p:nvPr/>
        </p:nvSpPr>
        <p:spPr>
          <a:xfrm>
            <a:off x="457200" y="3154680"/>
            <a:ext cx="4754880" cy="1188720"/>
          </a:xfrm>
          <a:prstGeom prst="rect">
            <a:avLst/>
          </a:prstGeom>
          <a:noFill/>
          <a:ln/>
        </p:spPr>
        <p:txBody>
          <a:bodyPr wrap="square" lIns="0" tIns="0" rIns="0" bIns="0" rtlCol="0" anchor="t"/>
          <a:lstStyle/>
          <a:p>
            <a:pPr indent="0" marL="0">
              <a:spcAft>
                <a:spcPts val="300"/>
              </a:spcAft>
              <a:buNone/>
            </a:pPr>
            <a:r>
              <a:rPr lang="en-US" sz="1300" dirty="0">
                <a:solidFill>
                  <a:srgbClr val="8A9BB8"/>
                </a:solidFill>
                <a:latin typeface="Calibri" pitchFamily="34" charset="0"/>
                <a:ea typeface="Calibri" pitchFamily="34" charset="-122"/>
                <a:cs typeface="Calibri" pitchFamily="34" charset="-120"/>
              </a:rPr>
              <a:t>PyTorch  ·  pytorch.org</a:t>
            </a:r>
            <a:endParaRPr lang="en-US" sz="1300" dirty="0"/>
          </a:p>
          <a:p>
            <a:pPr indent="0" marL="0">
              <a:spcAft>
                <a:spcPts val="300"/>
              </a:spcAft>
              <a:buNone/>
            </a:pPr>
            <a:r>
              <a:rPr lang="en-US" sz="1300" dirty="0">
                <a:solidFill>
                  <a:srgbClr val="8A9BB8"/>
                </a:solidFill>
                <a:latin typeface="Calibri" pitchFamily="34" charset="0"/>
                <a:ea typeface="Calibri" pitchFamily="34" charset="-122"/>
                <a:cs typeface="Calibri" pitchFamily="34" charset="-120"/>
              </a:rPr>
              <a:t>Hugging Face  ·  facebook/vjepa2-vitl-fpc64-256</a:t>
            </a:r>
            <a:endParaRPr lang="en-US" sz="1300" dirty="0"/>
          </a:p>
          <a:p>
            <a:pPr indent="0" marL="0">
              <a:spcAft>
                <a:spcPts val="300"/>
              </a:spcAft>
              <a:buNone/>
            </a:pPr>
            <a:r>
              <a:rPr lang="en-US" sz="1300" dirty="0">
                <a:solidFill>
                  <a:srgbClr val="8A9BB8"/>
                </a:solidFill>
                <a:latin typeface="Calibri" pitchFamily="34" charset="0"/>
                <a:ea typeface="Calibri" pitchFamily="34" charset="-122"/>
                <a:cs typeface="Calibri" pitchFamily="34" charset="-120"/>
              </a:rPr>
              <a:t>Neural operators  ·  neuraloperator.github.io</a:t>
            </a:r>
            <a:endParaRPr lang="en-US" sz="1300" dirty="0"/>
          </a:p>
          <a:p>
            <a:pPr indent="0" marL="0">
              <a:spcAft>
                <a:spcPts val="300"/>
              </a:spcAft>
              <a:buNone/>
            </a:pPr>
            <a:r>
              <a:rPr lang="en-US" sz="1300" dirty="0">
                <a:solidFill>
                  <a:srgbClr val="8A9BB8"/>
                </a:solidFill>
                <a:latin typeface="Calibri" pitchFamily="34" charset="0"/>
                <a:ea typeface="Calibri" pitchFamily="34" charset="-122"/>
                <a:cs typeface="Calibri" pitchFamily="34" charset="-120"/>
              </a:rPr>
              <a:t>Polymathic AI  ·  polymathic-ai.org</a:t>
            </a:r>
            <a:endParaRPr lang="en-US" sz="1300" dirty="0"/>
          </a:p>
        </p:txBody>
      </p:sp>
      <p:sp>
        <p:nvSpPr>
          <p:cNvPr id="5" name="Text 3"/>
          <p:cNvSpPr txBox="1"/>
          <p:nvPr/>
        </p:nvSpPr>
        <p:spPr>
          <a:xfrm>
            <a:off x="457200" y="4526280"/>
            <a:ext cx="4572000" cy="274320"/>
          </a:xfrm>
          <a:prstGeom prst="rect">
            <a:avLst/>
          </a:prstGeom>
          <a:noFill/>
          <a:ln/>
        </p:spPr>
        <p:txBody>
          <a:bodyPr wrap="square" lIns="0" tIns="0" rIns="0" bIns="0" rtlCol="0" anchor="t"/>
          <a:lstStyle/>
          <a:p>
            <a:pPr indent="0" marL="0">
              <a:buNone/>
            </a:pPr>
            <a:r>
              <a:rPr lang="en-US" sz="1200" dirty="0">
                <a:solidFill>
                  <a:srgbClr val="8A9BB8"/>
                </a:solidFill>
                <a:latin typeface="Calibri" pitchFamily="34" charset="0"/>
                <a:ea typeface="Calibri" pitchFamily="34" charset="-122"/>
                <a:cs typeface="Calibri" pitchFamily="34" charset="-120"/>
              </a:rPr>
              <a:t>Balaji Muthusubramanian</a:t>
            </a:r>
            <a:endParaRPr lang="en-US" sz="1200" dirty="0"/>
          </a:p>
        </p:txBody>
      </p:sp>
      <p:pic>
        <p:nvPicPr>
          <p:cNvPr id="6" name="Image 0" descr="assets/closing_network.png">    </p:cNvPr>
          <p:cNvPicPr>
            <a:picLocks noChangeAspect="1"/>
          </p:cNvPicPr>
          <p:nvPr/>
        </p:nvPicPr>
        <p:blipFill>
          <a:blip r:embed="rId1"/>
          <a:stretch>
            <a:fillRect/>
          </a:stretch>
        </p:blipFill>
        <p:spPr>
          <a:xfrm>
            <a:off x="5303520" y="1371600"/>
            <a:ext cx="3474720" cy="198362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Equation to World Models</dc:title>
  <dc:subject>PptxGenJS Presentation</dc:subject>
  <dc:creator>Balaji Muthusubramanian</dc:creator>
  <cp:lastModifiedBy>Balaji Muthusubramanian</cp:lastModifiedBy>
  <cp:revision>1</cp:revision>
  <dcterms:created xsi:type="dcterms:W3CDTF">2026-09-30T18:06:25Z</dcterms:created>
  <dcterms:modified xsi:type="dcterms:W3CDTF">2026-09-30T18:06:25Z</dcterms:modified>
</cp:coreProperties>
</file>